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rels" ContentType="application/vnd.openxmlformats-package.relationships+xml"/>
  <Default Extension="vml" ContentType="application/vnd.openxmlformats-officedocument.vmlDrawing"/>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embeddings/oleObject1.bin" ContentType="application/vnd.openxmlformats-officedocument.oleObject"/>
  <Override PartName="/ppt/notesSlides/notesSlide2.xml" ContentType="application/vnd.openxmlformats-officedocument.presentationml.notesSlide+xml"/>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embeddings/oleObject5.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0" r:id="rId1"/>
  </p:sldMasterIdLst>
  <p:notesMasterIdLst>
    <p:notesMasterId r:id="rId30"/>
  </p:notesMasterIdLst>
  <p:handoutMasterIdLst>
    <p:handoutMasterId r:id="rId31"/>
  </p:handoutMasterIdLst>
  <p:sldIdLst>
    <p:sldId id="256" r:id="rId2"/>
    <p:sldId id="257" r:id="rId3"/>
    <p:sldId id="265" r:id="rId4"/>
    <p:sldId id="262" r:id="rId5"/>
    <p:sldId id="272" r:id="rId6"/>
    <p:sldId id="267" r:id="rId7"/>
    <p:sldId id="264" r:id="rId8"/>
    <p:sldId id="266" r:id="rId9"/>
    <p:sldId id="268" r:id="rId10"/>
    <p:sldId id="274" r:id="rId11"/>
    <p:sldId id="263" r:id="rId12"/>
    <p:sldId id="269" r:id="rId13"/>
    <p:sldId id="276" r:id="rId14"/>
    <p:sldId id="271" r:id="rId15"/>
    <p:sldId id="260" r:id="rId16"/>
    <p:sldId id="275" r:id="rId17"/>
    <p:sldId id="261" r:id="rId18"/>
    <p:sldId id="259" r:id="rId19"/>
    <p:sldId id="277" r:id="rId20"/>
    <p:sldId id="270" r:id="rId21"/>
    <p:sldId id="284" r:id="rId22"/>
    <p:sldId id="258" r:id="rId23"/>
    <p:sldId id="278" r:id="rId24"/>
    <p:sldId id="279" r:id="rId25"/>
    <p:sldId id="281" r:id="rId26"/>
    <p:sldId id="282" r:id="rId27"/>
    <p:sldId id="283" r:id="rId28"/>
    <p:sldId id="280" r:id="rId2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scaleToFitPaper="1" frameSlides="1"/>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中間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間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淡色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スタイルなし/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433" autoAdjust="0"/>
  </p:normalViewPr>
  <p:slideViewPr>
    <p:cSldViewPr snapToGrid="0" snapToObjects="1">
      <p:cViewPr>
        <p:scale>
          <a:sx n="100" d="100"/>
          <a:sy n="100" d="100"/>
        </p:scale>
        <p:origin x="-888" y="-2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18" d="100"/>
          <a:sy n="118" d="100"/>
        </p:scale>
        <p:origin x="-592" y="-112"/>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notesMaster" Target="notesMasters/notesMaster1.xml"/><Relationship Id="rId31" Type="http://schemas.openxmlformats.org/officeDocument/2006/relationships/handoutMaster" Target="handoutMasters/handoutMaster1.xml"/><Relationship Id="rId32" Type="http://schemas.openxmlformats.org/officeDocument/2006/relationships/printerSettings" Target="printerSettings/printerSettings1.bin"/><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r>
              <a:rPr kumimoji="1" lang="ja-JP" altLang="en-US" smtClean="0"/>
              <a:t>修士課程最終発表 </a:t>
            </a:r>
            <a:r>
              <a:rPr kumimoji="1" lang="en-US" altLang="ja-JP" smtClean="0"/>
              <a:t>&amp; </a:t>
            </a:r>
            <a:r>
              <a:rPr kumimoji="1" lang="ja-JP" altLang="en-US" smtClean="0"/>
              <a:t>博士後期課程口述二次試験</a:t>
            </a:r>
            <a:endParaRPr kumimoji="1" lang="ja-JP" altLang="en-US"/>
          </a:p>
        </p:txBody>
      </p:sp>
      <p:sp>
        <p:nvSpPr>
          <p:cNvPr id="3" name="日付プレースホルダー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r>
              <a:rPr kumimoji="1" lang="en-US" altLang="ja-JP" smtClean="0"/>
              <a:t>2012 </a:t>
            </a:r>
            <a:r>
              <a:rPr kumimoji="1" lang="ja-JP" altLang="en-US" smtClean="0"/>
              <a:t>年 </a:t>
            </a:r>
            <a:r>
              <a:rPr kumimoji="1" lang="en-US" altLang="ja-JP" smtClean="0"/>
              <a:t>2 </a:t>
            </a:r>
            <a:r>
              <a:rPr kumimoji="1" lang="ja-JP" altLang="en-US" smtClean="0"/>
              <a:t>月 </a:t>
            </a:r>
            <a:r>
              <a:rPr kumimoji="1" lang="en-US" altLang="ja-JP" smtClean="0"/>
              <a:t>8 </a:t>
            </a:r>
            <a:r>
              <a:rPr kumimoji="1" lang="ja-JP" altLang="en-US" smtClean="0"/>
              <a:t>日 </a:t>
            </a:r>
            <a:r>
              <a:rPr kumimoji="1" lang="en-US" altLang="ja-JP" smtClean="0"/>
              <a:t>(</a:t>
            </a:r>
            <a:r>
              <a:rPr kumimoji="1" lang="ja-JP" altLang="en-US" smtClean="0"/>
              <a:t>水</a:t>
            </a:r>
            <a:r>
              <a:rPr kumimoji="1" lang="en-US" altLang="ja-JP" smtClean="0"/>
              <a:t>)</a:t>
            </a:r>
            <a:endParaRPr kumimoji="1" lang="ja-JP" altLang="en-US"/>
          </a:p>
        </p:txBody>
      </p:sp>
      <p:sp>
        <p:nvSpPr>
          <p:cNvPr id="4" name="フッター プレースホルダー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201904E2-4D8E-3144-BF74-133232AFBF65}" type="slidenum">
              <a:rPr kumimoji="1" lang="ja-JP" altLang="en-US" smtClean="0"/>
              <a:t>‹#›</a:t>
            </a:fld>
            <a:endParaRPr kumimoji="1" lang="ja-JP" altLang="en-US"/>
          </a:p>
        </p:txBody>
      </p:sp>
    </p:spTree>
    <p:extLst>
      <p:ext uri="{BB962C8B-B14F-4D97-AF65-F5344CB8AC3E}">
        <p14:creationId xmlns:p14="http://schemas.microsoft.com/office/powerpoint/2010/main" val="1589015269"/>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r>
              <a:rPr kumimoji="1" lang="ja-JP" altLang="en-US" smtClean="0"/>
              <a:t>修士課程最終発表 </a:t>
            </a:r>
            <a:r>
              <a:rPr kumimoji="1" lang="en-US" altLang="ja-JP" smtClean="0"/>
              <a:t>&amp; </a:t>
            </a:r>
            <a:r>
              <a:rPr kumimoji="1" lang="ja-JP" altLang="en-US" smtClean="0"/>
              <a:t>博士後期課程口述二次試験</a:t>
            </a:r>
            <a:endParaRPr kumimoji="1" lang="ja-JP" altLang="en-US"/>
          </a:p>
        </p:txBody>
      </p:sp>
      <p:sp>
        <p:nvSpPr>
          <p:cNvPr id="3" name="日付プレースホルダー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r>
              <a:rPr kumimoji="1" lang="en-US" altLang="ja-JP" smtClean="0"/>
              <a:t>2012 </a:t>
            </a:r>
            <a:r>
              <a:rPr kumimoji="1" lang="ja-JP" altLang="en-US" smtClean="0"/>
              <a:t>年 </a:t>
            </a:r>
            <a:r>
              <a:rPr kumimoji="1" lang="en-US" altLang="ja-JP" smtClean="0"/>
              <a:t>2 </a:t>
            </a:r>
            <a:r>
              <a:rPr kumimoji="1" lang="ja-JP" altLang="en-US" smtClean="0"/>
              <a:t>月 </a:t>
            </a:r>
            <a:r>
              <a:rPr kumimoji="1" lang="en-US" altLang="ja-JP" smtClean="0"/>
              <a:t>8 </a:t>
            </a:r>
            <a:r>
              <a:rPr kumimoji="1" lang="ja-JP" altLang="en-US" smtClean="0"/>
              <a:t>日 </a:t>
            </a:r>
            <a:r>
              <a:rPr kumimoji="1" lang="en-US" altLang="ja-JP" smtClean="0"/>
              <a:t>(</a:t>
            </a:r>
            <a:r>
              <a:rPr kumimoji="1" lang="ja-JP" altLang="en-US" smtClean="0"/>
              <a:t>水</a:t>
            </a:r>
            <a:r>
              <a:rPr kumimoji="1" lang="en-US" altLang="ja-JP" smtClean="0"/>
              <a:t>)</a:t>
            </a:r>
            <a:endParaRPr kumimoji="1" lang="ja-JP" altLang="en-US"/>
          </a:p>
        </p:txBody>
      </p:sp>
      <p:sp>
        <p:nvSpPr>
          <p:cNvPr id="4" name="スライド イメージ プレースホルダー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18E932E4-0CF1-3D45-A447-2321AF7DEA2A}" type="slidenum">
              <a:rPr kumimoji="1" lang="ja-JP" altLang="en-US" smtClean="0"/>
              <a:t>‹#›</a:t>
            </a:fld>
            <a:endParaRPr kumimoji="1" lang="ja-JP" altLang="en-US"/>
          </a:p>
        </p:txBody>
      </p:sp>
    </p:spTree>
    <p:extLst>
      <p:ext uri="{BB962C8B-B14F-4D97-AF65-F5344CB8AC3E}">
        <p14:creationId xmlns:p14="http://schemas.microsoft.com/office/powerpoint/2010/main" val="1120612789"/>
      </p:ext>
    </p:extLst>
  </p:cSld>
  <p:clrMap bg1="lt1" tx1="dk1" bg2="lt2" tx2="dk2" accent1="accent1" accent2="accent2" accent3="accent3" accent4="accent4" accent5="accent5" accent6="accent6" hlink="hlink" folHlink="folHlink"/>
  <p:hf ftr="0"/>
  <p:notesStyle>
    <a:lvl1pPr marL="0" algn="l" defTabSz="457200" rtl="0" eaLnBrk="1" latinLnBrk="0" hangingPunct="1">
      <a:defRPr kumimoji="1" sz="1200" kern="1200">
        <a:solidFill>
          <a:schemeClr val="tx1"/>
        </a:solidFill>
        <a:latin typeface="+mn-lt"/>
        <a:ea typeface="+mn-ea"/>
        <a:cs typeface="+mn-cs"/>
      </a:defRPr>
    </a:lvl1pPr>
    <a:lvl2pPr marL="457200" algn="l" defTabSz="457200" rtl="0" eaLnBrk="1" latinLnBrk="0" hangingPunct="1">
      <a:defRPr kumimoji="1" sz="1200" kern="1200">
        <a:solidFill>
          <a:schemeClr val="tx1"/>
        </a:solidFill>
        <a:latin typeface="+mn-lt"/>
        <a:ea typeface="+mn-ea"/>
        <a:cs typeface="+mn-cs"/>
      </a:defRPr>
    </a:lvl2pPr>
    <a:lvl3pPr marL="914400" algn="l" defTabSz="457200" rtl="0" eaLnBrk="1" latinLnBrk="0" hangingPunct="1">
      <a:defRPr kumimoji="1" sz="1200" kern="1200">
        <a:solidFill>
          <a:schemeClr val="tx1"/>
        </a:solidFill>
        <a:latin typeface="+mn-lt"/>
        <a:ea typeface="+mn-ea"/>
        <a:cs typeface="+mn-cs"/>
      </a:defRPr>
    </a:lvl3pPr>
    <a:lvl4pPr marL="1371600" algn="l" defTabSz="457200" rtl="0" eaLnBrk="1" latinLnBrk="0" hangingPunct="1">
      <a:defRPr kumimoji="1" sz="1200" kern="1200">
        <a:solidFill>
          <a:schemeClr val="tx1"/>
        </a:solidFill>
        <a:latin typeface="+mn-lt"/>
        <a:ea typeface="+mn-ea"/>
        <a:cs typeface="+mn-cs"/>
      </a:defRPr>
    </a:lvl4pPr>
    <a:lvl5pPr marL="1828800" algn="l" defTabSz="457200" rtl="0" eaLnBrk="1" latinLnBrk="0" hangingPunct="1">
      <a:defRPr kumimoji="1" sz="1200" kern="1200">
        <a:solidFill>
          <a:schemeClr val="tx1"/>
        </a:solidFill>
        <a:latin typeface="+mn-lt"/>
        <a:ea typeface="+mn-ea"/>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ヘッダー プレースホルダー 3"/>
          <p:cNvSpPr>
            <a:spLocks noGrp="1"/>
          </p:cNvSpPr>
          <p:nvPr>
            <p:ph type="hdr" sz="quarter" idx="10"/>
          </p:nvPr>
        </p:nvSpPr>
        <p:spPr/>
        <p:txBody>
          <a:bodyPr/>
          <a:lstStyle/>
          <a:p>
            <a:r>
              <a:rPr kumimoji="1" lang="ja-JP" altLang="en-US" smtClean="0"/>
              <a:t>修士課程最終発表 </a:t>
            </a:r>
            <a:r>
              <a:rPr kumimoji="1" lang="en-US" altLang="ja-JP" smtClean="0"/>
              <a:t>&amp; </a:t>
            </a:r>
            <a:r>
              <a:rPr kumimoji="1" lang="ja-JP" altLang="en-US" smtClean="0"/>
              <a:t>博士後期課程口述二次試験</a:t>
            </a:r>
            <a:endParaRPr kumimoji="1" lang="ja-JP" altLang="en-US"/>
          </a:p>
        </p:txBody>
      </p:sp>
      <p:sp>
        <p:nvSpPr>
          <p:cNvPr id="5" name="日付プレースホルダー 4"/>
          <p:cNvSpPr>
            <a:spLocks noGrp="1"/>
          </p:cNvSpPr>
          <p:nvPr>
            <p:ph type="dt" idx="11"/>
          </p:nvPr>
        </p:nvSpPr>
        <p:spPr/>
        <p:txBody>
          <a:bodyPr/>
          <a:lstStyle/>
          <a:p>
            <a:r>
              <a:rPr kumimoji="1" lang="en-US" altLang="ja-JP" smtClean="0"/>
              <a:t>2012 </a:t>
            </a:r>
            <a:r>
              <a:rPr kumimoji="1" lang="ja-JP" altLang="en-US" smtClean="0"/>
              <a:t>年 </a:t>
            </a:r>
            <a:r>
              <a:rPr kumimoji="1" lang="en-US" altLang="ja-JP" smtClean="0"/>
              <a:t>2 </a:t>
            </a:r>
            <a:r>
              <a:rPr kumimoji="1" lang="ja-JP" altLang="en-US" smtClean="0"/>
              <a:t>月 </a:t>
            </a:r>
            <a:r>
              <a:rPr kumimoji="1" lang="en-US" altLang="ja-JP" smtClean="0"/>
              <a:t>8 </a:t>
            </a:r>
            <a:r>
              <a:rPr kumimoji="1" lang="ja-JP" altLang="en-US" smtClean="0"/>
              <a:t>日 </a:t>
            </a:r>
            <a:r>
              <a:rPr kumimoji="1" lang="en-US" altLang="ja-JP" smtClean="0"/>
              <a:t>(</a:t>
            </a:r>
            <a:r>
              <a:rPr kumimoji="1" lang="ja-JP" altLang="en-US" smtClean="0"/>
              <a:t>水</a:t>
            </a:r>
            <a:r>
              <a:rPr kumimoji="1" lang="en-US" altLang="ja-JP" smtClean="0"/>
              <a:t>)</a:t>
            </a:r>
            <a:endParaRPr kumimoji="1" lang="ja-JP" altLang="en-US"/>
          </a:p>
        </p:txBody>
      </p:sp>
      <p:sp>
        <p:nvSpPr>
          <p:cNvPr id="7" name="スライド番号プレースホルダー 6"/>
          <p:cNvSpPr>
            <a:spLocks noGrp="1"/>
          </p:cNvSpPr>
          <p:nvPr>
            <p:ph type="sldNum" sz="quarter" idx="13"/>
          </p:nvPr>
        </p:nvSpPr>
        <p:spPr/>
        <p:txBody>
          <a:bodyPr/>
          <a:lstStyle/>
          <a:p>
            <a:fld id="{18E932E4-0CF1-3D45-A447-2321AF7DEA2A}" type="slidenum">
              <a:rPr kumimoji="1" lang="ja-JP" altLang="en-US" smtClean="0"/>
              <a:t>1</a:t>
            </a:fld>
            <a:endParaRPr kumimoji="1" lang="ja-JP" altLang="en-US"/>
          </a:p>
        </p:txBody>
      </p:sp>
    </p:spTree>
    <p:extLst>
      <p:ext uri="{BB962C8B-B14F-4D97-AF65-F5344CB8AC3E}">
        <p14:creationId xmlns:p14="http://schemas.microsoft.com/office/powerpoint/2010/main" val="936474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日付プレースホルダー 3"/>
          <p:cNvSpPr>
            <a:spLocks noGrp="1"/>
          </p:cNvSpPr>
          <p:nvPr>
            <p:ph type="dt" idx="10"/>
          </p:nvPr>
        </p:nvSpPr>
        <p:spPr/>
        <p:txBody>
          <a:bodyPr/>
          <a:lstStyle/>
          <a:p>
            <a:r>
              <a:rPr kumimoji="1" lang="en-US" altLang="ja-JP" smtClean="0"/>
              <a:t>2012 </a:t>
            </a:r>
            <a:r>
              <a:rPr kumimoji="1" lang="ja-JP" altLang="en-US" smtClean="0"/>
              <a:t>年 </a:t>
            </a:r>
            <a:r>
              <a:rPr kumimoji="1" lang="en-US" altLang="ja-JP" smtClean="0"/>
              <a:t>2 </a:t>
            </a:r>
            <a:r>
              <a:rPr kumimoji="1" lang="ja-JP" altLang="en-US" smtClean="0"/>
              <a:t>月 </a:t>
            </a:r>
            <a:r>
              <a:rPr kumimoji="1" lang="en-US" altLang="ja-JP" smtClean="0"/>
              <a:t>8 </a:t>
            </a:r>
            <a:r>
              <a:rPr kumimoji="1" lang="ja-JP" altLang="en-US" smtClean="0"/>
              <a:t>日 </a:t>
            </a:r>
            <a:r>
              <a:rPr kumimoji="1" lang="en-US" altLang="ja-JP" smtClean="0"/>
              <a:t>(</a:t>
            </a:r>
            <a:r>
              <a:rPr kumimoji="1" lang="ja-JP" altLang="en-US" smtClean="0"/>
              <a:t>水</a:t>
            </a:r>
            <a:r>
              <a:rPr kumimoji="1" lang="en-US" altLang="ja-JP" smtClean="0"/>
              <a:t>)</a:t>
            </a:r>
            <a:endParaRPr kumimoji="1" lang="ja-JP" altLang="en-US"/>
          </a:p>
        </p:txBody>
      </p:sp>
      <p:sp>
        <p:nvSpPr>
          <p:cNvPr id="5" name="ヘッダー プレースホルダー 4"/>
          <p:cNvSpPr>
            <a:spLocks noGrp="1"/>
          </p:cNvSpPr>
          <p:nvPr>
            <p:ph type="hdr" sz="quarter" idx="11"/>
          </p:nvPr>
        </p:nvSpPr>
        <p:spPr/>
        <p:txBody>
          <a:bodyPr/>
          <a:lstStyle/>
          <a:p>
            <a:r>
              <a:rPr kumimoji="1" lang="ja-JP" altLang="en-US" smtClean="0"/>
              <a:t>修士課程最終発表 </a:t>
            </a:r>
            <a:r>
              <a:rPr kumimoji="1" lang="en-US" altLang="ja-JP" smtClean="0"/>
              <a:t>&amp; </a:t>
            </a:r>
            <a:r>
              <a:rPr kumimoji="1" lang="ja-JP" altLang="en-US" smtClean="0"/>
              <a:t>博士後期課程口述二次試験</a:t>
            </a:r>
            <a:endParaRPr kumimoji="1" lang="ja-JP" altLang="en-US"/>
          </a:p>
        </p:txBody>
      </p:sp>
      <p:sp>
        <p:nvSpPr>
          <p:cNvPr id="7" name="スライド番号プレースホルダー 6"/>
          <p:cNvSpPr>
            <a:spLocks noGrp="1"/>
          </p:cNvSpPr>
          <p:nvPr>
            <p:ph type="sldNum" sz="quarter" idx="13"/>
          </p:nvPr>
        </p:nvSpPr>
        <p:spPr/>
        <p:txBody>
          <a:bodyPr/>
          <a:lstStyle/>
          <a:p>
            <a:fld id="{18E932E4-0CF1-3D45-A447-2321AF7DEA2A}" type="slidenum">
              <a:rPr kumimoji="1" lang="ja-JP" altLang="en-US" smtClean="0"/>
              <a:t>15</a:t>
            </a:fld>
            <a:endParaRPr kumimoji="1" lang="ja-JP" altLang="en-US"/>
          </a:p>
        </p:txBody>
      </p:sp>
    </p:spTree>
    <p:extLst>
      <p:ext uri="{BB962C8B-B14F-4D97-AF65-F5344CB8AC3E}">
        <p14:creationId xmlns:p14="http://schemas.microsoft.com/office/powerpoint/2010/main" val="1750011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日付プレースホルダー 3"/>
          <p:cNvSpPr>
            <a:spLocks noGrp="1"/>
          </p:cNvSpPr>
          <p:nvPr>
            <p:ph type="dt" idx="10"/>
          </p:nvPr>
        </p:nvSpPr>
        <p:spPr/>
        <p:txBody>
          <a:bodyPr/>
          <a:lstStyle/>
          <a:p>
            <a:r>
              <a:rPr kumimoji="1" lang="en-US" altLang="ja-JP" smtClean="0"/>
              <a:t>2012 </a:t>
            </a:r>
            <a:r>
              <a:rPr kumimoji="1" lang="ja-JP" altLang="en-US" smtClean="0"/>
              <a:t>年 </a:t>
            </a:r>
            <a:r>
              <a:rPr kumimoji="1" lang="en-US" altLang="ja-JP" smtClean="0"/>
              <a:t>2 </a:t>
            </a:r>
            <a:r>
              <a:rPr kumimoji="1" lang="ja-JP" altLang="en-US" smtClean="0"/>
              <a:t>月 </a:t>
            </a:r>
            <a:r>
              <a:rPr kumimoji="1" lang="en-US" altLang="ja-JP" smtClean="0"/>
              <a:t>8 </a:t>
            </a:r>
            <a:r>
              <a:rPr kumimoji="1" lang="ja-JP" altLang="en-US" smtClean="0"/>
              <a:t>日 </a:t>
            </a:r>
            <a:r>
              <a:rPr kumimoji="1" lang="en-US" altLang="ja-JP" smtClean="0"/>
              <a:t>(</a:t>
            </a:r>
            <a:r>
              <a:rPr kumimoji="1" lang="ja-JP" altLang="en-US" smtClean="0"/>
              <a:t>水</a:t>
            </a:r>
            <a:r>
              <a:rPr kumimoji="1" lang="en-US" altLang="ja-JP" smtClean="0"/>
              <a:t>)</a:t>
            </a:r>
            <a:endParaRPr kumimoji="1" lang="ja-JP" altLang="en-US"/>
          </a:p>
        </p:txBody>
      </p:sp>
      <p:sp>
        <p:nvSpPr>
          <p:cNvPr id="5" name="ヘッダー プレースホルダー 4"/>
          <p:cNvSpPr>
            <a:spLocks noGrp="1"/>
          </p:cNvSpPr>
          <p:nvPr>
            <p:ph type="hdr" sz="quarter" idx="11"/>
          </p:nvPr>
        </p:nvSpPr>
        <p:spPr/>
        <p:txBody>
          <a:bodyPr/>
          <a:lstStyle/>
          <a:p>
            <a:r>
              <a:rPr kumimoji="1" lang="ja-JP" altLang="en-US" smtClean="0"/>
              <a:t>修士課程最終発表 </a:t>
            </a:r>
            <a:r>
              <a:rPr kumimoji="1" lang="en-US" altLang="ja-JP" smtClean="0"/>
              <a:t>&amp; </a:t>
            </a:r>
            <a:r>
              <a:rPr kumimoji="1" lang="ja-JP" altLang="en-US" smtClean="0"/>
              <a:t>博士後期課程口述二次試験</a:t>
            </a:r>
            <a:endParaRPr kumimoji="1" lang="ja-JP" altLang="en-US"/>
          </a:p>
        </p:txBody>
      </p:sp>
      <p:sp>
        <p:nvSpPr>
          <p:cNvPr id="7" name="スライド番号プレースホルダー 6"/>
          <p:cNvSpPr>
            <a:spLocks noGrp="1"/>
          </p:cNvSpPr>
          <p:nvPr>
            <p:ph type="sldNum" sz="quarter" idx="13"/>
          </p:nvPr>
        </p:nvSpPr>
        <p:spPr/>
        <p:txBody>
          <a:bodyPr/>
          <a:lstStyle/>
          <a:p>
            <a:fld id="{18E932E4-0CF1-3D45-A447-2321AF7DEA2A}" type="slidenum">
              <a:rPr kumimoji="1" lang="ja-JP" altLang="en-US" smtClean="0"/>
              <a:t>18</a:t>
            </a:fld>
            <a:endParaRPr kumimoji="1" lang="ja-JP" altLang="en-US"/>
          </a:p>
        </p:txBody>
      </p:sp>
    </p:spTree>
    <p:extLst>
      <p:ext uri="{BB962C8B-B14F-4D97-AF65-F5344CB8AC3E}">
        <p14:creationId xmlns:p14="http://schemas.microsoft.com/office/powerpoint/2010/main" val="2751279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kumimoji="1" lang="ja-JP" altLang="en-US" dirty="0" smtClean="0"/>
              <a:t>システム創成学専攻のコアコンピタンス</a:t>
            </a:r>
          </a:p>
          <a:p>
            <a:pPr marL="0" marR="0" indent="0" algn="l" defTabSz="457200" rtl="0" eaLnBrk="1" fontAlgn="auto" latinLnBrk="0" hangingPunct="1">
              <a:lnSpc>
                <a:spcPct val="100000"/>
              </a:lnSpc>
              <a:spcBef>
                <a:spcPts val="0"/>
              </a:spcBef>
              <a:spcAft>
                <a:spcPts val="0"/>
              </a:spcAft>
              <a:buClrTx/>
              <a:buSzTx/>
              <a:buFontTx/>
              <a:buNone/>
              <a:tabLst/>
              <a:defRPr/>
            </a:pPr>
            <a:r>
              <a:rPr kumimoji="1" lang="ja-JP" altLang="en-US" dirty="0" smtClean="0"/>
              <a:t>（１）問題の本質を領域横断的、俯瞰的、かつ体系的に捉えるシステム思考能力。</a:t>
            </a:r>
          </a:p>
          <a:p>
            <a:pPr marL="0" marR="0" indent="0" algn="l" defTabSz="457200" rtl="0" eaLnBrk="1" fontAlgn="auto" latinLnBrk="0" hangingPunct="1">
              <a:lnSpc>
                <a:spcPct val="100000"/>
              </a:lnSpc>
              <a:spcBef>
                <a:spcPts val="0"/>
              </a:spcBef>
              <a:spcAft>
                <a:spcPts val="0"/>
              </a:spcAft>
              <a:buClrTx/>
              <a:buSzTx/>
              <a:buFontTx/>
              <a:buNone/>
              <a:tabLst/>
              <a:defRPr/>
            </a:pPr>
            <a:r>
              <a:rPr kumimoji="1" lang="ja-JP" altLang="en-US" dirty="0" smtClean="0"/>
              <a:t>（２）複雑な現実問題を数理的、実証的アプローチが適用できる形にモデル化して解決する能力。</a:t>
            </a:r>
          </a:p>
          <a:p>
            <a:pPr marL="0" marR="0" indent="0" algn="l" defTabSz="457200" rtl="0" eaLnBrk="1" fontAlgn="auto" latinLnBrk="0" hangingPunct="1">
              <a:lnSpc>
                <a:spcPct val="100000"/>
              </a:lnSpc>
              <a:spcBef>
                <a:spcPts val="0"/>
              </a:spcBef>
              <a:spcAft>
                <a:spcPts val="0"/>
              </a:spcAft>
              <a:buClrTx/>
              <a:buSzTx/>
              <a:buFontTx/>
              <a:buNone/>
              <a:tabLst/>
              <a:defRPr/>
            </a:pPr>
            <a:r>
              <a:rPr kumimoji="1" lang="ja-JP" altLang="en-US" dirty="0" smtClean="0"/>
              <a:t>（３）工学の特定専門分野において専門家として認知されるに十分な知識と技能。</a:t>
            </a:r>
          </a:p>
          <a:p>
            <a:pPr marL="0" marR="0" indent="0" algn="l" defTabSz="457200" rtl="0" eaLnBrk="1" fontAlgn="auto" latinLnBrk="0" hangingPunct="1">
              <a:lnSpc>
                <a:spcPct val="100000"/>
              </a:lnSpc>
              <a:spcBef>
                <a:spcPts val="0"/>
              </a:spcBef>
              <a:spcAft>
                <a:spcPts val="0"/>
              </a:spcAft>
              <a:buClrTx/>
              <a:buSzTx/>
              <a:buFontTx/>
              <a:buNone/>
              <a:tabLst/>
              <a:defRPr/>
            </a:pPr>
            <a:r>
              <a:rPr kumimoji="1" lang="ja-JP" altLang="en-US" dirty="0" smtClean="0"/>
              <a:t>（４）自己を磨きつつ社会の中で人と関わりながら活躍できる人間力。</a:t>
            </a:r>
            <a:endParaRPr kumimoji="1" lang="ja-JP" altLang="en-US" dirty="0"/>
          </a:p>
        </p:txBody>
      </p:sp>
      <p:sp>
        <p:nvSpPr>
          <p:cNvPr id="4" name="日付プレースホルダー 3"/>
          <p:cNvSpPr>
            <a:spLocks noGrp="1"/>
          </p:cNvSpPr>
          <p:nvPr>
            <p:ph type="dt" idx="10"/>
          </p:nvPr>
        </p:nvSpPr>
        <p:spPr/>
        <p:txBody>
          <a:bodyPr/>
          <a:lstStyle/>
          <a:p>
            <a:r>
              <a:rPr kumimoji="1" lang="en-US" altLang="ja-JP" smtClean="0"/>
              <a:t>2012 </a:t>
            </a:r>
            <a:r>
              <a:rPr kumimoji="1" lang="ja-JP" altLang="en-US" smtClean="0"/>
              <a:t>年 </a:t>
            </a:r>
            <a:r>
              <a:rPr kumimoji="1" lang="en-US" altLang="ja-JP" smtClean="0"/>
              <a:t>2 </a:t>
            </a:r>
            <a:r>
              <a:rPr kumimoji="1" lang="ja-JP" altLang="en-US" smtClean="0"/>
              <a:t>月 </a:t>
            </a:r>
            <a:r>
              <a:rPr kumimoji="1" lang="en-US" altLang="ja-JP" smtClean="0"/>
              <a:t>8 </a:t>
            </a:r>
            <a:r>
              <a:rPr kumimoji="1" lang="ja-JP" altLang="en-US" smtClean="0"/>
              <a:t>日 </a:t>
            </a:r>
            <a:r>
              <a:rPr kumimoji="1" lang="en-US" altLang="ja-JP" smtClean="0"/>
              <a:t>(</a:t>
            </a:r>
            <a:r>
              <a:rPr kumimoji="1" lang="ja-JP" altLang="en-US" smtClean="0"/>
              <a:t>水</a:t>
            </a:r>
            <a:r>
              <a:rPr kumimoji="1" lang="en-US" altLang="ja-JP" smtClean="0"/>
              <a:t>)</a:t>
            </a:r>
            <a:endParaRPr kumimoji="1" lang="ja-JP" altLang="en-US"/>
          </a:p>
        </p:txBody>
      </p:sp>
      <p:sp>
        <p:nvSpPr>
          <p:cNvPr id="5" name="ヘッダー プレースホルダー 4"/>
          <p:cNvSpPr>
            <a:spLocks noGrp="1"/>
          </p:cNvSpPr>
          <p:nvPr>
            <p:ph type="hdr" sz="quarter" idx="11"/>
          </p:nvPr>
        </p:nvSpPr>
        <p:spPr/>
        <p:txBody>
          <a:bodyPr/>
          <a:lstStyle/>
          <a:p>
            <a:r>
              <a:rPr kumimoji="1" lang="ja-JP" altLang="en-US" smtClean="0"/>
              <a:t>修士課程最終発表 </a:t>
            </a:r>
            <a:r>
              <a:rPr kumimoji="1" lang="en-US" altLang="ja-JP" smtClean="0"/>
              <a:t>&amp; </a:t>
            </a:r>
            <a:r>
              <a:rPr kumimoji="1" lang="ja-JP" altLang="en-US" smtClean="0"/>
              <a:t>博士後期課程口述二次試験</a:t>
            </a:r>
            <a:endParaRPr kumimoji="1" lang="ja-JP" altLang="en-US"/>
          </a:p>
        </p:txBody>
      </p:sp>
      <p:sp>
        <p:nvSpPr>
          <p:cNvPr id="7" name="スライド番号プレースホルダー 6"/>
          <p:cNvSpPr>
            <a:spLocks noGrp="1"/>
          </p:cNvSpPr>
          <p:nvPr>
            <p:ph type="sldNum" sz="quarter" idx="13"/>
          </p:nvPr>
        </p:nvSpPr>
        <p:spPr/>
        <p:txBody>
          <a:bodyPr/>
          <a:lstStyle/>
          <a:p>
            <a:fld id="{18E932E4-0CF1-3D45-A447-2321AF7DEA2A}" type="slidenum">
              <a:rPr kumimoji="1" lang="ja-JP" altLang="en-US" smtClean="0"/>
              <a:t>21</a:t>
            </a:fld>
            <a:endParaRPr kumimoji="1" lang="ja-JP" altLang="en-US"/>
          </a:p>
        </p:txBody>
      </p:sp>
    </p:spTree>
    <p:extLst>
      <p:ext uri="{BB962C8B-B14F-4D97-AF65-F5344CB8AC3E}">
        <p14:creationId xmlns:p14="http://schemas.microsoft.com/office/powerpoint/2010/main" val="1852578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日付プレースホルダー 3"/>
          <p:cNvSpPr>
            <a:spLocks noGrp="1"/>
          </p:cNvSpPr>
          <p:nvPr>
            <p:ph type="dt" idx="10"/>
          </p:nvPr>
        </p:nvSpPr>
        <p:spPr/>
        <p:txBody>
          <a:bodyPr/>
          <a:lstStyle/>
          <a:p>
            <a:r>
              <a:rPr kumimoji="1" lang="en-US" altLang="ja-JP" smtClean="0"/>
              <a:t>2012 </a:t>
            </a:r>
            <a:r>
              <a:rPr kumimoji="1" lang="ja-JP" altLang="en-US" smtClean="0"/>
              <a:t>年 </a:t>
            </a:r>
            <a:r>
              <a:rPr kumimoji="1" lang="en-US" altLang="ja-JP" smtClean="0"/>
              <a:t>2 </a:t>
            </a:r>
            <a:r>
              <a:rPr kumimoji="1" lang="ja-JP" altLang="en-US" smtClean="0"/>
              <a:t>月 </a:t>
            </a:r>
            <a:r>
              <a:rPr kumimoji="1" lang="en-US" altLang="ja-JP" smtClean="0"/>
              <a:t>8 </a:t>
            </a:r>
            <a:r>
              <a:rPr kumimoji="1" lang="ja-JP" altLang="en-US" smtClean="0"/>
              <a:t>日 </a:t>
            </a:r>
            <a:r>
              <a:rPr kumimoji="1" lang="en-US" altLang="ja-JP" smtClean="0"/>
              <a:t>(</a:t>
            </a:r>
            <a:r>
              <a:rPr kumimoji="1" lang="ja-JP" altLang="en-US" smtClean="0"/>
              <a:t>水</a:t>
            </a:r>
            <a:r>
              <a:rPr kumimoji="1" lang="en-US" altLang="ja-JP" smtClean="0"/>
              <a:t>)</a:t>
            </a:r>
            <a:endParaRPr kumimoji="1" lang="ja-JP" altLang="en-US"/>
          </a:p>
        </p:txBody>
      </p:sp>
      <p:sp>
        <p:nvSpPr>
          <p:cNvPr id="5" name="ヘッダー プレースホルダー 4"/>
          <p:cNvSpPr>
            <a:spLocks noGrp="1"/>
          </p:cNvSpPr>
          <p:nvPr>
            <p:ph type="hdr" sz="quarter" idx="11"/>
          </p:nvPr>
        </p:nvSpPr>
        <p:spPr/>
        <p:txBody>
          <a:bodyPr/>
          <a:lstStyle/>
          <a:p>
            <a:r>
              <a:rPr kumimoji="1" lang="ja-JP" altLang="en-US" smtClean="0"/>
              <a:t>修士課程最終発表 </a:t>
            </a:r>
            <a:r>
              <a:rPr kumimoji="1" lang="en-US" altLang="ja-JP" smtClean="0"/>
              <a:t>&amp; </a:t>
            </a:r>
            <a:r>
              <a:rPr kumimoji="1" lang="ja-JP" altLang="en-US" smtClean="0"/>
              <a:t>博士後期課程口述二次試験</a:t>
            </a:r>
            <a:endParaRPr kumimoji="1" lang="ja-JP" altLang="en-US"/>
          </a:p>
        </p:txBody>
      </p:sp>
      <p:sp>
        <p:nvSpPr>
          <p:cNvPr id="7" name="スライド番号プレースホルダー 6"/>
          <p:cNvSpPr>
            <a:spLocks noGrp="1"/>
          </p:cNvSpPr>
          <p:nvPr>
            <p:ph type="sldNum" sz="quarter" idx="13"/>
          </p:nvPr>
        </p:nvSpPr>
        <p:spPr/>
        <p:txBody>
          <a:bodyPr/>
          <a:lstStyle/>
          <a:p>
            <a:fld id="{18E932E4-0CF1-3D45-A447-2321AF7DEA2A}" type="slidenum">
              <a:rPr kumimoji="1" lang="ja-JP" altLang="en-US" smtClean="0"/>
              <a:t>22</a:t>
            </a:fld>
            <a:endParaRPr kumimoji="1" lang="ja-JP" altLang="en-US"/>
          </a:p>
        </p:txBody>
      </p:sp>
    </p:spTree>
    <p:extLst>
      <p:ext uri="{BB962C8B-B14F-4D97-AF65-F5344CB8AC3E}">
        <p14:creationId xmlns:p14="http://schemas.microsoft.com/office/powerpoint/2010/main" val="3603876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日付プレースホルダー 3"/>
          <p:cNvSpPr>
            <a:spLocks noGrp="1"/>
          </p:cNvSpPr>
          <p:nvPr>
            <p:ph type="dt" idx="10"/>
          </p:nvPr>
        </p:nvSpPr>
        <p:spPr/>
        <p:txBody>
          <a:bodyPr/>
          <a:lstStyle/>
          <a:p>
            <a:r>
              <a:rPr kumimoji="1" lang="en-US" altLang="ja-JP" smtClean="0"/>
              <a:t>2012 </a:t>
            </a:r>
            <a:r>
              <a:rPr kumimoji="1" lang="ja-JP" altLang="en-US" smtClean="0"/>
              <a:t>年 </a:t>
            </a:r>
            <a:r>
              <a:rPr kumimoji="1" lang="en-US" altLang="ja-JP" smtClean="0"/>
              <a:t>2 </a:t>
            </a:r>
            <a:r>
              <a:rPr kumimoji="1" lang="ja-JP" altLang="en-US" smtClean="0"/>
              <a:t>月 </a:t>
            </a:r>
            <a:r>
              <a:rPr kumimoji="1" lang="en-US" altLang="ja-JP" smtClean="0"/>
              <a:t>8 </a:t>
            </a:r>
            <a:r>
              <a:rPr kumimoji="1" lang="ja-JP" altLang="en-US" smtClean="0"/>
              <a:t>日 </a:t>
            </a:r>
            <a:r>
              <a:rPr kumimoji="1" lang="en-US" altLang="ja-JP" smtClean="0"/>
              <a:t>(</a:t>
            </a:r>
            <a:r>
              <a:rPr kumimoji="1" lang="ja-JP" altLang="en-US" smtClean="0"/>
              <a:t>水</a:t>
            </a:r>
            <a:r>
              <a:rPr kumimoji="1" lang="en-US" altLang="ja-JP" smtClean="0"/>
              <a:t>)</a:t>
            </a:r>
            <a:endParaRPr kumimoji="1" lang="ja-JP" altLang="en-US"/>
          </a:p>
        </p:txBody>
      </p:sp>
      <p:sp>
        <p:nvSpPr>
          <p:cNvPr id="5" name="ヘッダー プレースホルダー 4"/>
          <p:cNvSpPr>
            <a:spLocks noGrp="1"/>
          </p:cNvSpPr>
          <p:nvPr>
            <p:ph type="hdr" sz="quarter" idx="11"/>
          </p:nvPr>
        </p:nvSpPr>
        <p:spPr/>
        <p:txBody>
          <a:bodyPr/>
          <a:lstStyle/>
          <a:p>
            <a:r>
              <a:rPr kumimoji="1" lang="ja-JP" altLang="en-US" smtClean="0"/>
              <a:t>修士課程最終発表 </a:t>
            </a:r>
            <a:r>
              <a:rPr kumimoji="1" lang="en-US" altLang="ja-JP" smtClean="0"/>
              <a:t>&amp; </a:t>
            </a:r>
            <a:r>
              <a:rPr kumimoji="1" lang="ja-JP" altLang="en-US" smtClean="0"/>
              <a:t>博士後期課程口述二次試験</a:t>
            </a:r>
            <a:endParaRPr kumimoji="1" lang="ja-JP" altLang="en-US"/>
          </a:p>
        </p:txBody>
      </p:sp>
      <p:sp>
        <p:nvSpPr>
          <p:cNvPr id="7" name="スライド番号プレースホルダー 6"/>
          <p:cNvSpPr>
            <a:spLocks noGrp="1"/>
          </p:cNvSpPr>
          <p:nvPr>
            <p:ph type="sldNum" sz="quarter" idx="13"/>
          </p:nvPr>
        </p:nvSpPr>
        <p:spPr/>
        <p:txBody>
          <a:bodyPr/>
          <a:lstStyle/>
          <a:p>
            <a:fld id="{18E932E4-0CF1-3D45-A447-2321AF7DEA2A}" type="slidenum">
              <a:rPr kumimoji="1" lang="ja-JP" altLang="en-US" smtClean="0"/>
              <a:t>24</a:t>
            </a:fld>
            <a:endParaRPr kumimoji="1" lang="ja-JP" altLang="en-US"/>
          </a:p>
        </p:txBody>
      </p:sp>
    </p:spTree>
    <p:extLst>
      <p:ext uri="{BB962C8B-B14F-4D97-AF65-F5344CB8AC3E}">
        <p14:creationId xmlns:p14="http://schemas.microsoft.com/office/powerpoint/2010/main" val="999662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ja-JP" altLang="en-US" smtClean="0"/>
              <a:t>マスター タイトルの書式設定</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マスター サブタイトルの書式設定</a:t>
            </a:r>
            <a:endParaRPr lang="en-US" dirty="0"/>
          </a:p>
        </p:txBody>
      </p:sp>
      <p:sp>
        <p:nvSpPr>
          <p:cNvPr id="4" name="Date Placeholder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Footer Placeholder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a:p>
        </p:txBody>
      </p:sp>
      <p:sp>
        <p:nvSpPr>
          <p:cNvPr id="3" name="Content Placeholder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a:p>
        </p:txBody>
      </p:sp>
      <p:sp>
        <p:nvSpPr>
          <p:cNvPr id="4" name="Date Placeholder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Footer Placeholder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Footer Placeholder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Date Placeholder 4"/>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6" name="Footer Placeholder 5"/>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6"/>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8" name="Footer Placeholder 7"/>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9" name="Slide Number Placeholder 8"/>
          <p:cNvSpPr>
            <a:spLocks noGrp="1"/>
          </p:cNvSpPr>
          <p:nvPr>
            <p:ph type="sldNum" sz="quarter" idx="12"/>
          </p:nvPr>
        </p:nvSpPr>
        <p:spPr/>
        <p:txBody>
          <a:bodyPr/>
          <a:lstStyle/>
          <a:p>
            <a:fld id="{0CFEC368-1D7A-4F81-ABF6-AE0E36BAF64C}"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a:p>
        </p:txBody>
      </p:sp>
      <p:sp>
        <p:nvSpPr>
          <p:cNvPr id="3" name="Date Placeholder 2"/>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4" name="Footer Placeholder 3"/>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3" name="Footer Placeholder 2"/>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4" name="Slide Number Placeholder 3"/>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ja-JP" altLang="en-US" smtClean="0"/>
              <a:t>マスター タイトルの書式設定</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6" name="Footer Placeholder 5"/>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ja-JP" altLang="en-US" smtClean="0"/>
              <a:t>マスター タイトルの書式設定</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smtClean="0"/>
              <a:t>プレースホルダーまでドラッグするかアイコンをクリックして図を追加</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6" name="Footer Placeholder 5"/>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a:p>
        </p:txBody>
      </p:sp>
      <p:sp>
        <p:nvSpPr>
          <p:cNvPr id="4" name="Date Placeholder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Footer Placeholder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Footer Placeholder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ja-JP" altLang="en-US" dirty="0" smtClean="0"/>
              <a:t>マスター タイトルの書式設定</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ja-JP" altLang="en-US" dirty="0" smtClean="0"/>
              <a:t>マスター テキストの書式設定</a:t>
            </a:r>
          </a:p>
          <a:p>
            <a:pPr lvl="1"/>
            <a:r>
              <a:rPr lang="ja-JP" altLang="en-US" dirty="0" smtClean="0"/>
              <a:t>第 </a:t>
            </a:r>
            <a:r>
              <a:rPr lang="en-US" altLang="ja-JP" dirty="0" smtClean="0"/>
              <a:t>2 </a:t>
            </a:r>
            <a:r>
              <a:rPr lang="ja-JP" altLang="en-US" dirty="0" smtClean="0"/>
              <a:t>レベル</a:t>
            </a:r>
          </a:p>
          <a:p>
            <a:pPr lvl="2"/>
            <a:r>
              <a:rPr lang="ja-JP" altLang="en-US" dirty="0" smtClean="0"/>
              <a:t>第 </a:t>
            </a:r>
            <a:r>
              <a:rPr lang="en-US" altLang="ja-JP" dirty="0" smtClean="0"/>
              <a:t>3 </a:t>
            </a:r>
            <a:r>
              <a:rPr lang="ja-JP" altLang="en-US" dirty="0" smtClean="0"/>
              <a:t>レベル</a:t>
            </a:r>
          </a:p>
          <a:p>
            <a:pPr lvl="3"/>
            <a:r>
              <a:rPr lang="ja-JP" altLang="en-US" dirty="0" smtClean="0"/>
              <a:t>第 </a:t>
            </a:r>
            <a:r>
              <a:rPr lang="en-US" altLang="ja-JP" dirty="0" smtClean="0"/>
              <a:t>4 </a:t>
            </a:r>
            <a:r>
              <a:rPr lang="ja-JP" altLang="en-US" dirty="0" smtClean="0"/>
              <a:t>レベル</a:t>
            </a:r>
          </a:p>
          <a:p>
            <a:pPr lvl="4"/>
            <a:r>
              <a:rPr lang="ja-JP" altLang="en-US" dirty="0" smtClean="0"/>
              <a:t>第 </a:t>
            </a:r>
            <a:r>
              <a:rPr lang="en-US" altLang="ja-JP" dirty="0" smtClean="0"/>
              <a:t>5 </a:t>
            </a:r>
            <a:r>
              <a:rPr lang="ja-JP" altLang="en-US" dirty="0" smtClean="0"/>
              <a:t>レベル</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latin typeface="Futura Medium"/>
                <a:ea typeface="ヒラギノ角ゴ Pro W6"/>
              </a:defRPr>
            </a:lvl1p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latin typeface="Futura Medium"/>
                <a:ea typeface="ヒラギノ角ゴ Pro W6"/>
              </a:defRPr>
            </a:lvl1p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latin typeface="Futura Medium"/>
                <a:ea typeface="ヒラギノ角ゴ Pro W6"/>
              </a:defRPr>
            </a:lvl1pPr>
          </a:lstStyle>
          <a:p>
            <a:fld id="{0CFEC368-1D7A-4F81-ABF6-AE0E36BAF64C}"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hf hdr="0"/>
  <p:txStyles>
    <p:titleStyle>
      <a:lvl1pPr algn="l" defTabSz="914400" rtl="0" eaLnBrk="1" latinLnBrk="0" hangingPunct="1">
        <a:spcBef>
          <a:spcPct val="0"/>
        </a:spcBef>
        <a:buNone/>
        <a:defRPr kumimoji="1" sz="4000" kern="1200" spc="-100" baseline="0">
          <a:solidFill>
            <a:schemeClr val="tx2"/>
          </a:solidFill>
          <a:latin typeface="Futura Medium"/>
          <a:ea typeface="ヒラギノ角ゴ Pro W6"/>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kumimoji="1" sz="2400" kern="1200">
          <a:solidFill>
            <a:schemeClr val="tx1"/>
          </a:solidFill>
          <a:latin typeface="Palatino"/>
          <a:ea typeface="ヒラギノ角ゴ Pro W3"/>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kumimoji="1" sz="2000" kern="1200">
          <a:solidFill>
            <a:schemeClr val="tx1"/>
          </a:solidFill>
          <a:latin typeface="Palatino"/>
          <a:ea typeface="ヒラギノ角ゴ Pro W3"/>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kumimoji="1" sz="1800" kern="1200">
          <a:solidFill>
            <a:schemeClr val="tx1"/>
          </a:solidFill>
          <a:latin typeface="Palatino"/>
          <a:ea typeface="ヒラギノ角ゴ Pro W3"/>
          <a:cs typeface="+mn-cs"/>
        </a:defRPr>
      </a:lvl3pPr>
      <a:lvl4pPr marL="1005840" indent="-182880" algn="l" defTabSz="914400" rtl="0" eaLnBrk="1" latinLnBrk="0" hangingPunct="1">
        <a:spcBef>
          <a:spcPct val="20000"/>
        </a:spcBef>
        <a:buClr>
          <a:schemeClr val="accent1"/>
        </a:buClr>
        <a:buFont typeface="Arial" pitchFamily="34" charset="0"/>
        <a:buChar char="•"/>
        <a:defRPr kumimoji="1" sz="1600" kern="1200">
          <a:solidFill>
            <a:schemeClr val="tx1"/>
          </a:solidFill>
          <a:latin typeface="Palatino"/>
          <a:ea typeface="ヒラギノ角ゴ Pro W3"/>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kumimoji="1" sz="1400" kern="1200" baseline="0">
          <a:solidFill>
            <a:schemeClr val="tx1"/>
          </a:solidFill>
          <a:latin typeface="Palatino"/>
          <a:ea typeface="ヒラギノ角ゴ Pro W3"/>
          <a:cs typeface="+mn-cs"/>
        </a:defRPr>
      </a:lvl5pPr>
      <a:lvl6pPr marL="137160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emf"/><Relationship Id="rId3" Type="http://schemas.openxmlformats.org/officeDocument/2006/relationships/image" Target="../media/image5.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emf"/><Relationship Id="rId3" Type="http://schemas.openxmlformats.org/officeDocument/2006/relationships/image" Target="../media/image7.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emf"/></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4" Type="http://schemas.openxmlformats.org/officeDocument/2006/relationships/image" Target="../media/image11.emf"/><Relationship Id="rId5" Type="http://schemas.openxmlformats.org/officeDocument/2006/relationships/image" Target="../media/image12.emf"/><Relationship Id="rId1" Type="http://schemas.openxmlformats.org/officeDocument/2006/relationships/slideLayout" Target="../slideLayouts/slideLayout6.xml"/><Relationship Id="rId2" Type="http://schemas.openxmlformats.org/officeDocument/2006/relationships/image" Target="../media/image9.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13.emf"/><Relationship Id="rId5" Type="http://schemas.openxmlformats.org/officeDocument/2006/relationships/image" Target="../media/image4.emf"/><Relationship Id="rId1" Type="http://schemas.openxmlformats.org/officeDocument/2006/relationships/vmlDrawing" Target="../drawings/vmlDrawing1.vml"/><Relationship Id="rId2"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5.emf"/></Relationships>
</file>

<file path=ppt/slides/_rels/slide14.xml.rels><?xml version="1.0" encoding="UTF-8" standalone="yes"?>
<Relationships xmlns="http://schemas.openxmlformats.org/package/2006/relationships"><Relationship Id="rId3" Type="http://schemas.openxmlformats.org/officeDocument/2006/relationships/image" Target="../media/image18.emf"/><Relationship Id="rId4" Type="http://schemas.openxmlformats.org/officeDocument/2006/relationships/image" Target="../media/image19.emf"/><Relationship Id="rId1" Type="http://schemas.openxmlformats.org/officeDocument/2006/relationships/slideLayout" Target="../slideLayouts/slideLayout2.xml"/><Relationship Id="rId2" Type="http://schemas.openxmlformats.org/officeDocument/2006/relationships/image" Target="../media/image17.e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4" Type="http://schemas.openxmlformats.org/officeDocument/2006/relationships/image" Target="../media/image21.emf"/><Relationship Id="rId5" Type="http://schemas.openxmlformats.org/officeDocument/2006/relationships/oleObject" Target="../embeddings/oleObject2.bin"/><Relationship Id="rId6" Type="http://schemas.openxmlformats.org/officeDocument/2006/relationships/image" Target="../media/image20.emf"/><Relationship Id="rId1" Type="http://schemas.openxmlformats.org/officeDocument/2006/relationships/vmlDrawing" Target="../drawings/vmlDrawing2.vml"/><Relationship Id="rId2"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2.emf"/><Relationship Id="rId4" Type="http://schemas.openxmlformats.org/officeDocument/2006/relationships/oleObject" Target="../embeddings/oleObject3.bin"/><Relationship Id="rId5" Type="http://schemas.openxmlformats.org/officeDocument/2006/relationships/image" Target="../media/image20.emf"/><Relationship Id="rId1" Type="http://schemas.openxmlformats.org/officeDocument/2006/relationships/vmlDrawing" Target="../drawings/vmlDrawing3.vml"/><Relationship Id="rId2"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4.emf"/><Relationship Id="rId4" Type="http://schemas.openxmlformats.org/officeDocument/2006/relationships/oleObject" Target="../embeddings/oleObject4.bin"/><Relationship Id="rId5" Type="http://schemas.openxmlformats.org/officeDocument/2006/relationships/image" Target="../media/image23.emf"/><Relationship Id="rId1" Type="http://schemas.openxmlformats.org/officeDocument/2006/relationships/vmlDrawing" Target="../drawings/vmlDrawing4.vml"/><Relationship Id="rId2"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25.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8.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6.xml"/><Relationship Id="rId4" Type="http://schemas.openxmlformats.org/officeDocument/2006/relationships/image" Target="../media/image30.emf"/><Relationship Id="rId5" Type="http://schemas.openxmlformats.org/officeDocument/2006/relationships/oleObject" Target="../embeddings/oleObject5.bin"/><Relationship Id="rId6" Type="http://schemas.openxmlformats.org/officeDocument/2006/relationships/image" Target="../media/image29.emf"/><Relationship Id="rId1" Type="http://schemas.openxmlformats.org/officeDocument/2006/relationships/vmlDrawing" Target="../drawings/vmlDrawing5.vml"/><Relationship Id="rId2"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emf"/><Relationship Id="rId3" Type="http://schemas.openxmlformats.org/officeDocument/2006/relationships/image" Target="../media/image32.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emf"/><Relationship Id="rId3" Type="http://schemas.openxmlformats.org/officeDocument/2006/relationships/image" Target="../media/image33.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emf"/></Relationships>
</file>

<file path=ppt/slides/_rels/slide28.xml.rels><?xml version="1.0" encoding="UTF-8" standalone="yes"?>
<Relationships xmlns="http://schemas.openxmlformats.org/package/2006/relationships"><Relationship Id="rId3" Type="http://schemas.openxmlformats.org/officeDocument/2006/relationships/image" Target="../media/image35.emf"/><Relationship Id="rId4" Type="http://schemas.openxmlformats.org/officeDocument/2006/relationships/image" Target="../media/image36.emf"/><Relationship Id="rId1" Type="http://schemas.openxmlformats.org/officeDocument/2006/relationships/slideLayout" Target="../slideLayouts/slideLayout6.xml"/><Relationship Id="rId2"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noAutofit/>
          </a:bodyPr>
          <a:lstStyle/>
          <a:p>
            <a:r>
              <a:rPr lang="ja-JP" altLang="en-US" sz="4000" cap="none" dirty="0" smtClean="0"/>
              <a:t>分離反復連成解法による</a:t>
            </a:r>
            <a:r>
              <a:rPr lang="en-US" altLang="ja-JP" sz="4000" cap="none" dirty="0" smtClean="0"/>
              <a:t/>
            </a:r>
            <a:br>
              <a:rPr lang="en-US" altLang="ja-JP" sz="4000" cap="none" dirty="0" smtClean="0"/>
            </a:br>
            <a:r>
              <a:rPr lang="ja-JP" altLang="en-US" sz="4000" cap="none" dirty="0" smtClean="0"/>
              <a:t>大規模破壊力学シミュレーション</a:t>
            </a:r>
            <a:endParaRPr kumimoji="1" lang="ja-JP" altLang="en-US" sz="4000" cap="none" dirty="0"/>
          </a:p>
        </p:txBody>
      </p:sp>
      <p:sp>
        <p:nvSpPr>
          <p:cNvPr id="3" name="サブタイトル 2"/>
          <p:cNvSpPr>
            <a:spLocks noGrp="1"/>
          </p:cNvSpPr>
          <p:nvPr>
            <p:ph type="subTitle" idx="1"/>
          </p:nvPr>
        </p:nvSpPr>
        <p:spPr/>
        <p:txBody>
          <a:bodyPr>
            <a:normAutofit fontScale="92500" lnSpcReduction="20000"/>
          </a:bodyPr>
          <a:lstStyle/>
          <a:p>
            <a:r>
              <a:rPr kumimoji="1" lang="ja-JP" altLang="en-US" sz="3000" dirty="0" smtClean="0"/>
              <a:t>遊佐泰紀</a:t>
            </a:r>
            <a:endParaRPr lang="en-US" altLang="ja-JP" sz="3000" dirty="0" smtClean="0">
              <a:latin typeface="Courier"/>
              <a:cs typeface="Courier"/>
            </a:endParaRPr>
          </a:p>
          <a:p>
            <a:endParaRPr lang="en-US" altLang="ja-JP" sz="1800" dirty="0" smtClean="0"/>
          </a:p>
          <a:p>
            <a:r>
              <a:rPr lang="ja-JP" altLang="en-US" sz="1800" dirty="0" smtClean="0"/>
              <a:t>東京大学大学院工学系研究科システム創成学専攻</a:t>
            </a:r>
            <a:endParaRPr lang="en-US" altLang="ja-JP" sz="1800" dirty="0" smtClean="0"/>
          </a:p>
          <a:p>
            <a:r>
              <a:rPr lang="ja-JP" altLang="en-US" sz="1800" dirty="0" smtClean="0"/>
              <a:t>学籍番号</a:t>
            </a:r>
            <a:r>
              <a:rPr lang="en-US" altLang="ja-JP" sz="1800" dirty="0" smtClean="0"/>
              <a:t>: 37-106368</a:t>
            </a:r>
          </a:p>
          <a:p>
            <a:r>
              <a:rPr lang="ja-JP" altLang="en-US" sz="1800" dirty="0" smtClean="0"/>
              <a:t>受験番号</a:t>
            </a:r>
            <a:r>
              <a:rPr lang="en-US" altLang="ja-JP" sz="1800" dirty="0" smtClean="0"/>
              <a:t>: 236001</a:t>
            </a:r>
          </a:p>
          <a:p>
            <a:r>
              <a:rPr lang="ja-JP" altLang="en-US" sz="1800" dirty="0" smtClean="0"/>
              <a:t>指導教員</a:t>
            </a:r>
            <a:r>
              <a:rPr lang="en-US" altLang="ja-JP" sz="1800" dirty="0" smtClean="0"/>
              <a:t>: </a:t>
            </a:r>
            <a:r>
              <a:rPr lang="ja-JP" altLang="en-US" sz="1800" dirty="0" smtClean="0"/>
              <a:t>吉村忍</a:t>
            </a:r>
            <a:r>
              <a:rPr lang="en-US" altLang="ja-JP" sz="1800" dirty="0" smtClean="0"/>
              <a:t>, </a:t>
            </a:r>
            <a:r>
              <a:rPr lang="ja-JP" altLang="en-US" sz="1800" dirty="0" smtClean="0"/>
              <a:t>教授</a:t>
            </a:r>
            <a:endParaRPr lang="en-US" altLang="ja-JP" sz="1800" dirty="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dirty="0"/>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1</a:t>
            </a:fld>
            <a:endParaRPr lang="en-US"/>
          </a:p>
        </p:txBody>
      </p:sp>
    </p:spTree>
    <p:extLst>
      <p:ext uri="{BB962C8B-B14F-4D97-AF65-F5344CB8AC3E}">
        <p14:creationId xmlns:p14="http://schemas.microsoft.com/office/powerpoint/2010/main" val="2255778988"/>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アウトライン</a:t>
            </a:r>
            <a:endParaRPr kumimoji="1" lang="ja-JP" altLang="en-US" dirty="0"/>
          </a:p>
        </p:txBody>
      </p:sp>
      <p:sp>
        <p:nvSpPr>
          <p:cNvPr id="3" name="コンテンツ プレースホルダー 2"/>
          <p:cNvSpPr>
            <a:spLocks noGrp="1"/>
          </p:cNvSpPr>
          <p:nvPr>
            <p:ph idx="1"/>
          </p:nvPr>
        </p:nvSpPr>
        <p:spPr/>
        <p:txBody>
          <a:bodyPr>
            <a:normAutofit fontScale="92500" lnSpcReduction="20000"/>
          </a:bodyPr>
          <a:lstStyle/>
          <a:p>
            <a:r>
              <a:rPr kumimoji="1" lang="ja-JP" altLang="en-US" dirty="0" smtClean="0"/>
              <a:t>背景</a:t>
            </a:r>
            <a:endParaRPr kumimoji="1" lang="en-US" altLang="ja-JP" dirty="0" smtClean="0"/>
          </a:p>
          <a:p>
            <a:endParaRPr lang="en-US" altLang="ja-JP" dirty="0"/>
          </a:p>
          <a:p>
            <a:r>
              <a:rPr lang="ja-JP" altLang="en-US" dirty="0" smtClean="0"/>
              <a:t>提案</a:t>
            </a:r>
            <a:r>
              <a:rPr kumimoji="1" lang="ja-JP" altLang="en-US" dirty="0" smtClean="0"/>
              <a:t>手法</a:t>
            </a:r>
            <a:r>
              <a:rPr kumimoji="1" lang="en-US" altLang="ja-JP" dirty="0" smtClean="0"/>
              <a:t>: </a:t>
            </a:r>
            <a:r>
              <a:rPr kumimoji="1" lang="ja-JP" altLang="en-US" dirty="0" smtClean="0"/>
              <a:t>分離反復連成解法</a:t>
            </a:r>
            <a:endParaRPr lang="en-US" altLang="ja-JP" dirty="0" smtClean="0"/>
          </a:p>
          <a:p>
            <a:pPr lvl="1"/>
            <a:r>
              <a:rPr lang="ja-JP" altLang="en-US" dirty="0" smtClean="0"/>
              <a:t>既存手法との立ち位置の比較</a:t>
            </a:r>
            <a:endParaRPr lang="en-US" altLang="ja-JP" dirty="0" smtClean="0"/>
          </a:p>
          <a:p>
            <a:pPr lvl="1"/>
            <a:r>
              <a:rPr lang="ja-JP" altLang="en-US" dirty="0" smtClean="0"/>
              <a:t>アルゴリズムと実装</a:t>
            </a:r>
            <a:endParaRPr lang="en-US" altLang="ja-JP" dirty="0" smtClean="0"/>
          </a:p>
          <a:p>
            <a:endParaRPr kumimoji="1" lang="en-US" altLang="ja-JP" dirty="0" smtClean="0"/>
          </a:p>
          <a:p>
            <a:r>
              <a:rPr lang="ja-JP" altLang="en-US" dirty="0" smtClean="0"/>
              <a:t>数値実験</a:t>
            </a:r>
            <a:r>
              <a:rPr lang="en-US" altLang="ja-JP" dirty="0" smtClean="0"/>
              <a:t>: </a:t>
            </a:r>
            <a:r>
              <a:rPr lang="ja-JP" altLang="en-US" dirty="0" smtClean="0"/>
              <a:t>三次元疲労き裂進展解析</a:t>
            </a:r>
            <a:endParaRPr lang="en-US" altLang="ja-JP" dirty="0" smtClean="0"/>
          </a:p>
          <a:p>
            <a:pPr lvl="1"/>
            <a:r>
              <a:rPr lang="ja-JP" altLang="en-US" dirty="0" smtClean="0"/>
              <a:t>分離反復連成解法の反復特性</a:t>
            </a:r>
            <a:endParaRPr lang="en-US" altLang="ja-JP" dirty="0" smtClean="0"/>
          </a:p>
          <a:p>
            <a:pPr lvl="1"/>
            <a:r>
              <a:rPr lang="ja-JP" altLang="en-US" dirty="0" smtClean="0"/>
              <a:t>既存手法との精度の比較</a:t>
            </a:r>
            <a:endParaRPr lang="en-US" altLang="ja-JP" dirty="0" smtClean="0"/>
          </a:p>
          <a:p>
            <a:pPr lvl="1"/>
            <a:r>
              <a:rPr lang="ja-JP" altLang="en-US" dirty="0" smtClean="0"/>
              <a:t>既存手法との計算時間の比較</a:t>
            </a:r>
            <a:endParaRPr lang="en-US" altLang="ja-JP" dirty="0" smtClean="0"/>
          </a:p>
          <a:p>
            <a:endParaRPr lang="en-US" altLang="ja-JP" dirty="0" smtClean="0"/>
          </a:p>
          <a:p>
            <a:r>
              <a:rPr kumimoji="1" lang="ja-JP" altLang="en-US" dirty="0" smtClean="0"/>
              <a:t>結論</a:t>
            </a:r>
            <a:endParaRPr kumimoji="1" lang="en-US" altLang="ja-JP" dirty="0" smtClean="0"/>
          </a:p>
          <a:p>
            <a:endParaRPr kumimoji="1" lang="en-US" altLang="ja-JP" dirty="0" smtClean="0"/>
          </a:p>
          <a:p>
            <a:r>
              <a:rPr lang="ja-JP" altLang="en-US" dirty="0" smtClean="0"/>
              <a:t>博士後期課程の研究計画</a:t>
            </a:r>
            <a:endParaRPr kumimoji="1" lang="ja-JP" altLang="en-US" dirty="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2</a:t>
            </a:fld>
            <a:endParaRPr lang="en-US"/>
          </a:p>
        </p:txBody>
      </p:sp>
    </p:spTree>
    <p:extLst>
      <p:ext uri="{BB962C8B-B14F-4D97-AF65-F5344CB8AC3E}">
        <p14:creationId xmlns:p14="http://schemas.microsoft.com/office/powerpoint/2010/main" val="2224729977"/>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複雑形状構造物に発現する複雑な現象</a:t>
            </a:r>
            <a:endParaRPr kumimoji="1" lang="ja-JP" altLang="en-US" dirty="0"/>
          </a:p>
        </p:txBody>
      </p:sp>
      <p:sp>
        <p:nvSpPr>
          <p:cNvPr id="3" name="コンテンツ プレースホルダー 2"/>
          <p:cNvSpPr>
            <a:spLocks noGrp="1"/>
          </p:cNvSpPr>
          <p:nvPr>
            <p:ph idx="1"/>
          </p:nvPr>
        </p:nvSpPr>
        <p:spPr>
          <a:xfrm>
            <a:off x="457201" y="1600200"/>
            <a:ext cx="4798394" cy="4876800"/>
          </a:xfrm>
        </p:spPr>
        <p:txBody>
          <a:bodyPr/>
          <a:lstStyle/>
          <a:p>
            <a:r>
              <a:rPr lang="ja-JP" altLang="en-US" dirty="0" smtClean="0"/>
              <a:t>現実の構造物は複雑形状</a:t>
            </a:r>
            <a:endParaRPr lang="en-US" altLang="ja-JP" dirty="0" smtClean="0"/>
          </a:p>
          <a:p>
            <a:pPr lvl="1"/>
            <a:r>
              <a:rPr lang="ja-JP" altLang="en-US" dirty="0" smtClean="0"/>
              <a:t>スーパーコンピュータや</a:t>
            </a:r>
            <a:r>
              <a:rPr lang="en-US" altLang="ja-JP" dirty="0" smtClean="0"/>
              <a:t> PC </a:t>
            </a:r>
            <a:r>
              <a:rPr lang="ja-JP" altLang="en-US" dirty="0" smtClean="0"/>
              <a:t>クラスタを用いた大規模解析</a:t>
            </a:r>
            <a:endParaRPr kumimoji="1" lang="en-US" altLang="ja-JP" dirty="0" smtClean="0"/>
          </a:p>
          <a:p>
            <a:endParaRPr kumimoji="1" lang="en-US" altLang="ja-JP" dirty="0" smtClean="0"/>
          </a:p>
          <a:p>
            <a:r>
              <a:rPr lang="ja-JP" altLang="en-US" dirty="0" smtClean="0"/>
              <a:t>発現する現象も複雑</a:t>
            </a:r>
            <a:endParaRPr lang="en-US" altLang="ja-JP" dirty="0" smtClean="0"/>
          </a:p>
          <a:p>
            <a:pPr lvl="1"/>
            <a:r>
              <a:rPr kumimoji="1" lang="ja-JP" altLang="en-US" dirty="0" smtClean="0">
                <a:solidFill>
                  <a:schemeClr val="tx2"/>
                </a:solidFill>
              </a:rPr>
              <a:t>破壊現象</a:t>
            </a:r>
            <a:endParaRPr kumimoji="1" lang="en-US" altLang="ja-JP" dirty="0" smtClean="0">
              <a:solidFill>
                <a:schemeClr val="tx2"/>
              </a:solidFill>
            </a:endParaRPr>
          </a:p>
          <a:p>
            <a:pPr lvl="1"/>
            <a:r>
              <a:rPr lang="ja-JP" altLang="en-US" dirty="0" smtClean="0"/>
              <a:t>弾塑性・クリープなどの材料非線形現象</a:t>
            </a:r>
            <a:endParaRPr lang="en-US" altLang="ja-JP" dirty="0" smtClean="0"/>
          </a:p>
          <a:p>
            <a:pPr lvl="1"/>
            <a:r>
              <a:rPr lang="ja-JP" altLang="en-US" dirty="0" smtClean="0"/>
              <a:t>大変形・大ひずみなどの幾何学非線形現象</a:t>
            </a:r>
            <a:endParaRPr lang="en-US" altLang="ja-JP" dirty="0" smtClean="0"/>
          </a:p>
          <a:p>
            <a:pPr lvl="1"/>
            <a:r>
              <a:rPr lang="ja-JP" altLang="en-US" dirty="0" smtClean="0"/>
              <a:t>接触・摩擦などの境界非線形現象</a:t>
            </a:r>
            <a:endParaRPr lang="en-US" altLang="ja-JP" dirty="0" smtClean="0"/>
          </a:p>
          <a:p>
            <a:pPr lvl="1"/>
            <a:r>
              <a:rPr kumimoji="1" lang="en-US" altLang="ja-JP" dirty="0" smtClean="0"/>
              <a:t>……</a:t>
            </a:r>
            <a:endParaRPr kumimoji="1" lang="ja-JP" altLang="en-US" dirty="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3</a:t>
            </a:fld>
            <a:endParaRPr lang="en-US"/>
          </a:p>
        </p:txBody>
      </p:sp>
      <p:sp>
        <p:nvSpPr>
          <p:cNvPr id="8" name="テキスト ボックス 7"/>
          <p:cNvSpPr txBox="1"/>
          <p:nvPr/>
        </p:nvSpPr>
        <p:spPr>
          <a:xfrm>
            <a:off x="4876800" y="6470869"/>
            <a:ext cx="4094576" cy="307777"/>
          </a:xfrm>
          <a:prstGeom prst="rect">
            <a:avLst/>
          </a:prstGeom>
          <a:noFill/>
        </p:spPr>
        <p:txBody>
          <a:bodyPr wrap="none" rtlCol="0">
            <a:spAutoFit/>
          </a:bodyPr>
          <a:lstStyle/>
          <a:p>
            <a:r>
              <a:rPr kumimoji="1" lang="en-US" altLang="ja-JP" sz="1400" dirty="0" smtClean="0">
                <a:latin typeface="Palatino"/>
                <a:ea typeface="ヒラギノ角ゴ Pro W3"/>
              </a:rPr>
              <a:t>Boeing 787 </a:t>
            </a:r>
            <a:r>
              <a:rPr kumimoji="1" lang="ja-JP" altLang="en-US" sz="1400" dirty="0" smtClean="0">
                <a:latin typeface="Palatino"/>
                <a:ea typeface="ヒラギノ角ゴ Pro W3"/>
              </a:rPr>
              <a:t>のエンジン</a:t>
            </a:r>
            <a:r>
              <a:rPr kumimoji="1" lang="en-US" altLang="ja-JP" sz="1400" dirty="0" smtClean="0">
                <a:latin typeface="Palatino"/>
                <a:ea typeface="ヒラギノ角ゴ Pro W3"/>
              </a:rPr>
              <a:t> (Aerospaceweb.org </a:t>
            </a:r>
            <a:r>
              <a:rPr kumimoji="1" lang="ja-JP" altLang="en-US" sz="1400" dirty="0" smtClean="0">
                <a:latin typeface="Palatino"/>
                <a:ea typeface="ヒラギノ角ゴ Pro W3"/>
              </a:rPr>
              <a:t>より</a:t>
            </a:r>
            <a:r>
              <a:rPr kumimoji="1" lang="en-US" altLang="ja-JP" sz="1400" dirty="0" smtClean="0">
                <a:latin typeface="Palatino"/>
                <a:ea typeface="ヒラギノ角ゴ Pro W3"/>
              </a:rPr>
              <a:t>)</a:t>
            </a:r>
            <a:endParaRPr kumimoji="1" lang="ja-JP" altLang="en-US" sz="1400" dirty="0">
              <a:latin typeface="Palatino"/>
              <a:ea typeface="ヒラギノ角ゴ Pro W3"/>
            </a:endParaRPr>
          </a:p>
        </p:txBody>
      </p:sp>
      <p:pic>
        <p:nvPicPr>
          <p:cNvPr id="9" name="図 8" descr="boeing787engine_aerospaceweb.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9976" y="4172369"/>
            <a:ext cx="3062046" cy="2226942"/>
          </a:xfrm>
          <a:prstGeom prst="rect">
            <a:avLst/>
          </a:prstGeom>
        </p:spPr>
      </p:pic>
      <p:pic>
        <p:nvPicPr>
          <p:cNvPr id="10" name="図 9" descr="bwr_ihi.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9976" y="1524000"/>
            <a:ext cx="3062046" cy="2174052"/>
          </a:xfrm>
          <a:prstGeom prst="rect">
            <a:avLst/>
          </a:prstGeom>
        </p:spPr>
      </p:pic>
      <p:sp>
        <p:nvSpPr>
          <p:cNvPr id="11" name="テキスト ボックス 10"/>
          <p:cNvSpPr txBox="1"/>
          <p:nvPr/>
        </p:nvSpPr>
        <p:spPr>
          <a:xfrm>
            <a:off x="5255595" y="3790468"/>
            <a:ext cx="3282329" cy="307777"/>
          </a:xfrm>
          <a:prstGeom prst="rect">
            <a:avLst/>
          </a:prstGeom>
          <a:noFill/>
        </p:spPr>
        <p:txBody>
          <a:bodyPr wrap="none" rtlCol="0">
            <a:spAutoFit/>
          </a:bodyPr>
          <a:lstStyle/>
          <a:p>
            <a:r>
              <a:rPr kumimoji="1" lang="en-US" altLang="ja-JP" sz="1400" dirty="0" smtClean="0">
                <a:latin typeface="Palatino"/>
                <a:ea typeface="ヒラギノ角ゴ Pro W3"/>
              </a:rPr>
              <a:t>BWR </a:t>
            </a:r>
            <a:r>
              <a:rPr kumimoji="1" lang="ja-JP" altLang="en-US" sz="1400" dirty="0" smtClean="0">
                <a:latin typeface="Palatino"/>
                <a:ea typeface="ヒラギノ角ゴ Pro W3"/>
              </a:rPr>
              <a:t>圧力容器</a:t>
            </a:r>
            <a:r>
              <a:rPr kumimoji="1" lang="en-US" altLang="ja-JP" sz="1400" dirty="0" smtClean="0">
                <a:latin typeface="Palatino"/>
                <a:ea typeface="ヒラギノ角ゴ Pro W3"/>
              </a:rPr>
              <a:t> (IHI </a:t>
            </a:r>
            <a:r>
              <a:rPr kumimoji="1" lang="ja-JP" altLang="en-US" sz="1400" dirty="0" smtClean="0">
                <a:latin typeface="Palatino"/>
                <a:ea typeface="ヒラギノ角ゴ Pro W3"/>
              </a:rPr>
              <a:t>ウェブサイトより</a:t>
            </a:r>
            <a:r>
              <a:rPr kumimoji="1" lang="en-US" altLang="ja-JP" sz="1400" dirty="0" smtClean="0">
                <a:latin typeface="Palatino"/>
                <a:ea typeface="ヒラギノ角ゴ Pro W3"/>
              </a:rPr>
              <a:t>)</a:t>
            </a:r>
            <a:endParaRPr kumimoji="1" lang="ja-JP" altLang="en-US" sz="1400" dirty="0">
              <a:latin typeface="Palatino"/>
              <a:ea typeface="ヒラギノ角ゴ Pro W3"/>
            </a:endParaRPr>
          </a:p>
        </p:txBody>
      </p:sp>
    </p:spTree>
    <p:extLst>
      <p:ext uri="{BB962C8B-B14F-4D97-AF65-F5344CB8AC3E}">
        <p14:creationId xmlns:p14="http://schemas.microsoft.com/office/powerpoint/2010/main" val="4260924003"/>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局所的に発現する現象</a:t>
            </a:r>
            <a:endParaRPr kumimoji="1" lang="ja-JP" altLang="en-US" dirty="0"/>
          </a:p>
        </p:txBody>
      </p:sp>
      <p:sp>
        <p:nvSpPr>
          <p:cNvPr id="11" name="コンテンツ プレースホルダー 10"/>
          <p:cNvSpPr>
            <a:spLocks noGrp="1"/>
          </p:cNvSpPr>
          <p:nvPr>
            <p:ph idx="1"/>
          </p:nvPr>
        </p:nvSpPr>
        <p:spPr>
          <a:xfrm>
            <a:off x="457200" y="1600200"/>
            <a:ext cx="4662776" cy="4876800"/>
          </a:xfrm>
        </p:spPr>
        <p:txBody>
          <a:bodyPr>
            <a:normAutofit/>
          </a:bodyPr>
          <a:lstStyle/>
          <a:p>
            <a:r>
              <a:rPr lang="ja-JP" altLang="en-US" dirty="0" smtClean="0"/>
              <a:t>いくつかの重要な現象は局所的に発現する。</a:t>
            </a:r>
            <a:endParaRPr lang="en-US" altLang="ja-JP" dirty="0" smtClean="0"/>
          </a:p>
          <a:p>
            <a:pPr lvl="1"/>
            <a:r>
              <a:rPr kumimoji="1" lang="ja-JP" altLang="en-US" dirty="0" smtClean="0">
                <a:solidFill>
                  <a:srgbClr val="D2533C"/>
                </a:solidFill>
              </a:rPr>
              <a:t>破壊</a:t>
            </a:r>
            <a:endParaRPr kumimoji="1" lang="en-US" altLang="ja-JP" dirty="0" smtClean="0">
              <a:solidFill>
                <a:srgbClr val="D2533C"/>
              </a:solidFill>
            </a:endParaRPr>
          </a:p>
          <a:p>
            <a:pPr lvl="1"/>
            <a:r>
              <a:rPr lang="ja-JP" altLang="en-US" dirty="0" smtClean="0"/>
              <a:t>弾塑性</a:t>
            </a:r>
            <a:endParaRPr kumimoji="1" lang="en-US" altLang="ja-JP" dirty="0" smtClean="0"/>
          </a:p>
          <a:p>
            <a:pPr lvl="1"/>
            <a:r>
              <a:rPr lang="en-US" altLang="ja-JP" dirty="0" smtClean="0"/>
              <a:t>……</a:t>
            </a:r>
            <a:endParaRPr kumimoji="1" lang="en-US" altLang="ja-JP" dirty="0" smtClean="0"/>
          </a:p>
          <a:p>
            <a:endParaRPr kumimoji="1" lang="en-US" altLang="ja-JP" dirty="0" smtClean="0"/>
          </a:p>
          <a:p>
            <a:r>
              <a:rPr kumimoji="1" lang="ja-JP" altLang="en-US" dirty="0" smtClean="0"/>
              <a:t>このような問題に適した数値解法を提案し、解析例として破壊力学解析を行う。</a:t>
            </a:r>
            <a:endParaRPr kumimoji="1" lang="en-US" altLang="ja-JP" dirty="0" smtClean="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4</a:t>
            </a:fld>
            <a:endParaRPr lang="en-US"/>
          </a:p>
        </p:txBody>
      </p:sp>
      <p:pic>
        <p:nvPicPr>
          <p:cNvPr id="13" name="図 12" descr="boeing787engine_aerospaceweb.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9976" y="4172369"/>
            <a:ext cx="3062046" cy="2226942"/>
          </a:xfrm>
          <a:prstGeom prst="rect">
            <a:avLst/>
          </a:prstGeom>
        </p:spPr>
      </p:pic>
      <p:pic>
        <p:nvPicPr>
          <p:cNvPr id="14" name="図 13" descr="bwr_ihi.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9976" y="1524000"/>
            <a:ext cx="3062046" cy="2174052"/>
          </a:xfrm>
          <a:prstGeom prst="rect">
            <a:avLst/>
          </a:prstGeom>
        </p:spPr>
      </p:pic>
      <p:sp>
        <p:nvSpPr>
          <p:cNvPr id="15" name="テキスト ボックス 14"/>
          <p:cNvSpPr txBox="1"/>
          <p:nvPr/>
        </p:nvSpPr>
        <p:spPr>
          <a:xfrm>
            <a:off x="5255595" y="3790468"/>
            <a:ext cx="3282329" cy="307777"/>
          </a:xfrm>
          <a:prstGeom prst="rect">
            <a:avLst/>
          </a:prstGeom>
          <a:noFill/>
        </p:spPr>
        <p:txBody>
          <a:bodyPr wrap="none" rtlCol="0">
            <a:spAutoFit/>
          </a:bodyPr>
          <a:lstStyle/>
          <a:p>
            <a:r>
              <a:rPr kumimoji="1" lang="en-US" altLang="ja-JP" sz="1400" dirty="0" smtClean="0">
                <a:latin typeface="Palatino"/>
                <a:ea typeface="ヒラギノ角ゴ Pro W3"/>
              </a:rPr>
              <a:t>BWR </a:t>
            </a:r>
            <a:r>
              <a:rPr kumimoji="1" lang="ja-JP" altLang="en-US" sz="1400" dirty="0" smtClean="0">
                <a:latin typeface="Palatino"/>
                <a:ea typeface="ヒラギノ角ゴ Pro W3"/>
              </a:rPr>
              <a:t>圧力容器</a:t>
            </a:r>
            <a:r>
              <a:rPr kumimoji="1" lang="en-US" altLang="ja-JP" sz="1400" dirty="0" smtClean="0">
                <a:latin typeface="Palatino"/>
                <a:ea typeface="ヒラギノ角ゴ Pro W3"/>
              </a:rPr>
              <a:t> (IHI </a:t>
            </a:r>
            <a:r>
              <a:rPr kumimoji="1" lang="ja-JP" altLang="en-US" sz="1400" dirty="0" smtClean="0">
                <a:latin typeface="Palatino"/>
                <a:ea typeface="ヒラギノ角ゴ Pro W3"/>
              </a:rPr>
              <a:t>ウェブサイトより</a:t>
            </a:r>
            <a:r>
              <a:rPr kumimoji="1" lang="en-US" altLang="ja-JP" sz="1400" dirty="0" smtClean="0">
                <a:latin typeface="Palatino"/>
                <a:ea typeface="ヒラギノ角ゴ Pro W3"/>
              </a:rPr>
              <a:t>)</a:t>
            </a:r>
            <a:endParaRPr kumimoji="1" lang="ja-JP" altLang="en-US" sz="1400" dirty="0">
              <a:latin typeface="Palatino"/>
              <a:ea typeface="ヒラギノ角ゴ Pro W3"/>
            </a:endParaRPr>
          </a:p>
        </p:txBody>
      </p:sp>
      <p:sp>
        <p:nvSpPr>
          <p:cNvPr id="9" name="角丸四角形吹き出し 8"/>
          <p:cNvSpPr/>
          <p:nvPr/>
        </p:nvSpPr>
        <p:spPr>
          <a:xfrm>
            <a:off x="3429000" y="2332874"/>
            <a:ext cx="1690976" cy="440870"/>
          </a:xfrm>
          <a:prstGeom prst="wedgeRoundRectCallout">
            <a:avLst>
              <a:gd name="adj1" fmla="val 81308"/>
              <a:gd name="adj2" fmla="val 97707"/>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dirty="0" smtClean="0">
                <a:latin typeface="Palatino"/>
                <a:ea typeface="ヒラギノ角ゴ Pro W3"/>
              </a:rPr>
              <a:t>き裂先端近傍</a:t>
            </a:r>
            <a:endParaRPr kumimoji="1" lang="ja-JP" altLang="en-US" dirty="0">
              <a:latin typeface="Palatino"/>
              <a:ea typeface="ヒラギノ角ゴ Pro W3"/>
            </a:endParaRPr>
          </a:p>
        </p:txBody>
      </p:sp>
      <p:sp>
        <p:nvSpPr>
          <p:cNvPr id="10" name="角丸四角形吹き出し 9"/>
          <p:cNvSpPr/>
          <p:nvPr/>
        </p:nvSpPr>
        <p:spPr>
          <a:xfrm>
            <a:off x="3429000" y="3032973"/>
            <a:ext cx="1690976" cy="440870"/>
          </a:xfrm>
          <a:prstGeom prst="wedgeRoundRectCallout">
            <a:avLst>
              <a:gd name="adj1" fmla="val 81496"/>
              <a:gd name="adj2" fmla="val -60080"/>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dirty="0" smtClean="0">
                <a:latin typeface="Palatino"/>
                <a:ea typeface="ヒラギノ角ゴ Pro W3"/>
              </a:rPr>
              <a:t>構造不連続部</a:t>
            </a:r>
            <a:endParaRPr kumimoji="1" lang="ja-JP" altLang="en-US" dirty="0">
              <a:latin typeface="Palatino"/>
              <a:ea typeface="ヒラギノ角ゴ Pro W3"/>
            </a:endParaRPr>
          </a:p>
        </p:txBody>
      </p:sp>
      <p:sp>
        <p:nvSpPr>
          <p:cNvPr id="17" name="テキスト ボックス 16"/>
          <p:cNvSpPr txBox="1"/>
          <p:nvPr/>
        </p:nvSpPr>
        <p:spPr>
          <a:xfrm>
            <a:off x="4876800" y="6470869"/>
            <a:ext cx="4094576" cy="307777"/>
          </a:xfrm>
          <a:prstGeom prst="rect">
            <a:avLst/>
          </a:prstGeom>
          <a:noFill/>
        </p:spPr>
        <p:txBody>
          <a:bodyPr wrap="none" rtlCol="0">
            <a:spAutoFit/>
          </a:bodyPr>
          <a:lstStyle/>
          <a:p>
            <a:r>
              <a:rPr kumimoji="1" lang="en-US" altLang="ja-JP" sz="1400" dirty="0" smtClean="0">
                <a:latin typeface="Palatino"/>
                <a:ea typeface="ヒラギノ角ゴ Pro W3"/>
              </a:rPr>
              <a:t>Boeing 787 </a:t>
            </a:r>
            <a:r>
              <a:rPr kumimoji="1" lang="ja-JP" altLang="en-US" sz="1400" dirty="0" smtClean="0">
                <a:latin typeface="Palatino"/>
                <a:ea typeface="ヒラギノ角ゴ Pro W3"/>
              </a:rPr>
              <a:t>のエンジン</a:t>
            </a:r>
            <a:r>
              <a:rPr kumimoji="1" lang="en-US" altLang="ja-JP" sz="1400" dirty="0" smtClean="0">
                <a:latin typeface="Palatino"/>
                <a:ea typeface="ヒラギノ角ゴ Pro W3"/>
              </a:rPr>
              <a:t> (Aerospaceweb.org </a:t>
            </a:r>
            <a:r>
              <a:rPr kumimoji="1" lang="ja-JP" altLang="en-US" sz="1400" dirty="0" smtClean="0">
                <a:latin typeface="Palatino"/>
                <a:ea typeface="ヒラギノ角ゴ Pro W3"/>
              </a:rPr>
              <a:t>より</a:t>
            </a:r>
            <a:r>
              <a:rPr kumimoji="1" lang="en-US" altLang="ja-JP" sz="1400" dirty="0" smtClean="0">
                <a:latin typeface="Palatino"/>
                <a:ea typeface="ヒラギノ角ゴ Pro W3"/>
              </a:rPr>
              <a:t>)</a:t>
            </a:r>
            <a:endParaRPr kumimoji="1" lang="ja-JP" altLang="en-US" sz="1400" dirty="0">
              <a:latin typeface="Palatino"/>
              <a:ea typeface="ヒラギノ角ゴ Pro W3"/>
            </a:endParaRPr>
          </a:p>
        </p:txBody>
      </p:sp>
    </p:spTree>
    <p:extLst>
      <p:ext uri="{BB962C8B-B14F-4D97-AF65-F5344CB8AC3E}">
        <p14:creationId xmlns:p14="http://schemas.microsoft.com/office/powerpoint/2010/main" val="2706298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分離反復連成解法の概要</a:t>
            </a:r>
            <a:endParaRPr kumimoji="1" lang="ja-JP" altLang="en-US" dirty="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5</a:t>
            </a:fld>
            <a:endParaRPr lang="en-US"/>
          </a:p>
        </p:txBody>
      </p:sp>
      <p:pic>
        <p:nvPicPr>
          <p:cNvPr id="10" name="図 9" descr="partitioned_iterativ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883541"/>
            <a:ext cx="4394200" cy="4533900"/>
          </a:xfrm>
          <a:prstGeom prst="rect">
            <a:avLst/>
          </a:prstGeom>
        </p:spPr>
      </p:pic>
      <p:pic>
        <p:nvPicPr>
          <p:cNvPr id="7" name="図 6" descr="partitioned_iterative_flowchart.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1400" y="1524000"/>
            <a:ext cx="3835400" cy="4893441"/>
          </a:xfrm>
          <a:prstGeom prst="rect">
            <a:avLst/>
          </a:prstGeom>
        </p:spPr>
      </p:pic>
      <p:sp>
        <p:nvSpPr>
          <p:cNvPr id="8" name="角丸四角形吹き出し 7"/>
          <p:cNvSpPr/>
          <p:nvPr/>
        </p:nvSpPr>
        <p:spPr>
          <a:xfrm>
            <a:off x="3173124" y="5759172"/>
            <a:ext cx="1817976" cy="440870"/>
          </a:xfrm>
          <a:prstGeom prst="wedgeRoundRectCallout">
            <a:avLst>
              <a:gd name="adj1" fmla="val -57011"/>
              <a:gd name="adj2" fmla="val -147150"/>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dirty="0" smtClean="0">
                <a:latin typeface="Palatino"/>
                <a:ea typeface="ヒラギノ角ゴ Pro W3"/>
              </a:rPr>
              <a:t>グローバル領域</a:t>
            </a:r>
            <a:endParaRPr kumimoji="1" lang="ja-JP" altLang="en-US" dirty="0">
              <a:latin typeface="Palatino"/>
              <a:ea typeface="ヒラギノ角ゴ Pro W3"/>
            </a:endParaRPr>
          </a:p>
        </p:txBody>
      </p:sp>
      <p:sp>
        <p:nvSpPr>
          <p:cNvPr id="9" name="角丸四角形吹き出し 8"/>
          <p:cNvSpPr/>
          <p:nvPr/>
        </p:nvSpPr>
        <p:spPr>
          <a:xfrm>
            <a:off x="645824" y="1663106"/>
            <a:ext cx="1817976" cy="440870"/>
          </a:xfrm>
          <a:prstGeom prst="wedgeRoundRectCallout">
            <a:avLst>
              <a:gd name="adj1" fmla="val -1125"/>
              <a:gd name="adj2" fmla="val 135155"/>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dirty="0" smtClean="0">
                <a:latin typeface="Palatino"/>
                <a:ea typeface="ヒラギノ角ゴ Pro W3"/>
              </a:rPr>
              <a:t>ローカル領域</a:t>
            </a:r>
            <a:endParaRPr kumimoji="1" lang="ja-JP" altLang="en-US" dirty="0">
              <a:latin typeface="Palatino"/>
              <a:ea typeface="ヒラギノ角ゴ Pro W3"/>
            </a:endParaRPr>
          </a:p>
        </p:txBody>
      </p:sp>
    </p:spTree>
    <p:extLst>
      <p:ext uri="{BB962C8B-B14F-4D97-AF65-F5344CB8AC3E}">
        <p14:creationId xmlns:p14="http://schemas.microsoft.com/office/powerpoint/2010/main" val="647114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大規模破壊力学解析の既存手法</a:t>
            </a:r>
            <a:endParaRPr kumimoji="1" lang="ja-JP" altLang="en-US" dirty="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6</a:t>
            </a:fld>
            <a:endParaRPr lang="en-US"/>
          </a:p>
        </p:txBody>
      </p:sp>
      <p:sp>
        <p:nvSpPr>
          <p:cNvPr id="7" name="テキスト ボックス 6"/>
          <p:cNvSpPr txBox="1"/>
          <p:nvPr/>
        </p:nvSpPr>
        <p:spPr>
          <a:xfrm>
            <a:off x="1132987" y="6002476"/>
            <a:ext cx="2296013" cy="523220"/>
          </a:xfrm>
          <a:prstGeom prst="rect">
            <a:avLst/>
          </a:prstGeom>
          <a:noFill/>
        </p:spPr>
        <p:txBody>
          <a:bodyPr wrap="none" rtlCol="0">
            <a:spAutoFit/>
          </a:bodyPr>
          <a:lstStyle/>
          <a:p>
            <a:pPr algn="ctr"/>
            <a:r>
              <a:rPr kumimoji="1" lang="ja-JP" altLang="en-US" sz="2800" dirty="0" smtClean="0">
                <a:latin typeface="Palatino"/>
                <a:ea typeface="ヒラギノ角ゴ Pro W3"/>
              </a:rPr>
              <a:t>ズーミング法</a:t>
            </a:r>
            <a:endParaRPr kumimoji="1" lang="ja-JP" altLang="en-US" sz="2800" dirty="0">
              <a:latin typeface="Palatino"/>
              <a:ea typeface="ヒラギノ角ゴ Pro W3"/>
            </a:endParaRPr>
          </a:p>
        </p:txBody>
      </p:sp>
      <p:sp>
        <p:nvSpPr>
          <p:cNvPr id="8" name="テキスト ボックス 7"/>
          <p:cNvSpPr txBox="1"/>
          <p:nvPr/>
        </p:nvSpPr>
        <p:spPr>
          <a:xfrm>
            <a:off x="5498907" y="6002476"/>
            <a:ext cx="2698175" cy="523220"/>
          </a:xfrm>
          <a:prstGeom prst="rect">
            <a:avLst/>
          </a:prstGeom>
          <a:noFill/>
        </p:spPr>
        <p:txBody>
          <a:bodyPr wrap="none" rtlCol="0">
            <a:spAutoFit/>
          </a:bodyPr>
          <a:lstStyle/>
          <a:p>
            <a:pPr algn="ctr"/>
            <a:r>
              <a:rPr kumimoji="1" lang="ja-JP" altLang="en-US" sz="2800" dirty="0" smtClean="0">
                <a:latin typeface="Palatino"/>
                <a:ea typeface="ヒラギノ角ゴ Pro W3"/>
              </a:rPr>
              <a:t>重合メッシュ法</a:t>
            </a:r>
            <a:endParaRPr kumimoji="1" lang="ja-JP" altLang="en-US" sz="2800" dirty="0">
              <a:latin typeface="Palatino"/>
              <a:ea typeface="ヒラギノ角ゴ Pro W3"/>
            </a:endParaRPr>
          </a:p>
        </p:txBody>
      </p:sp>
      <p:pic>
        <p:nvPicPr>
          <p:cNvPr id="11" name="図 10" descr="zoomin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59126"/>
            <a:ext cx="4478674" cy="3422650"/>
          </a:xfrm>
          <a:prstGeom prst="rect">
            <a:avLst/>
          </a:prstGeom>
        </p:spPr>
      </p:pic>
      <p:pic>
        <p:nvPicPr>
          <p:cNvPr id="12" name="図 11" descr="sfem.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8706" y="2059126"/>
            <a:ext cx="4495293" cy="3435350"/>
          </a:xfrm>
          <a:prstGeom prst="rect">
            <a:avLst/>
          </a:prstGeom>
        </p:spPr>
      </p:pic>
      <p:sp>
        <p:nvSpPr>
          <p:cNvPr id="10" name="角丸四角形吹き出し 9"/>
          <p:cNvSpPr/>
          <p:nvPr/>
        </p:nvSpPr>
        <p:spPr>
          <a:xfrm>
            <a:off x="226724" y="3932182"/>
            <a:ext cx="1449676" cy="706382"/>
          </a:xfrm>
          <a:prstGeom prst="wedgeRoundRectCallout">
            <a:avLst>
              <a:gd name="adj1" fmla="val 62827"/>
              <a:gd name="adj2" fmla="val -168689"/>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dirty="0" smtClean="0">
                <a:latin typeface="Palatino"/>
                <a:ea typeface="ヒラギノ角ゴ Pro W3"/>
              </a:rPr>
              <a:t>境界条件の</a:t>
            </a:r>
            <a:endParaRPr kumimoji="1" lang="en-US" altLang="ja-JP" dirty="0" smtClean="0">
              <a:latin typeface="Palatino"/>
              <a:ea typeface="ヒラギノ角ゴ Pro W3"/>
            </a:endParaRPr>
          </a:p>
          <a:p>
            <a:pPr algn="ctr"/>
            <a:r>
              <a:rPr kumimoji="1" lang="ja-JP" altLang="en-US" dirty="0" smtClean="0">
                <a:latin typeface="Palatino"/>
                <a:ea typeface="ヒラギノ角ゴ Pro W3"/>
              </a:rPr>
              <a:t>受け渡し</a:t>
            </a:r>
            <a:endParaRPr kumimoji="1" lang="ja-JP" altLang="en-US" dirty="0">
              <a:latin typeface="Palatino"/>
              <a:ea typeface="ヒラギノ角ゴ Pro W3"/>
            </a:endParaRPr>
          </a:p>
        </p:txBody>
      </p:sp>
      <p:sp>
        <p:nvSpPr>
          <p:cNvPr id="13" name="角丸四角形吹き出し 12"/>
          <p:cNvSpPr/>
          <p:nvPr/>
        </p:nvSpPr>
        <p:spPr>
          <a:xfrm>
            <a:off x="4648706" y="3932182"/>
            <a:ext cx="1675894" cy="706382"/>
          </a:xfrm>
          <a:prstGeom prst="wedgeRoundRectCallout">
            <a:avLst>
              <a:gd name="adj1" fmla="val 62827"/>
              <a:gd name="adj2" fmla="val -168689"/>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dirty="0" smtClean="0">
                <a:latin typeface="Palatino"/>
                <a:ea typeface="ヒラギノ角ゴ Pro W3"/>
              </a:rPr>
              <a:t>ラグランジュ</a:t>
            </a:r>
            <a:endParaRPr kumimoji="1" lang="en-US" altLang="ja-JP" dirty="0" smtClean="0">
              <a:latin typeface="Palatino"/>
              <a:ea typeface="ヒラギノ角ゴ Pro W3"/>
            </a:endParaRPr>
          </a:p>
          <a:p>
            <a:pPr algn="ctr"/>
            <a:r>
              <a:rPr kumimoji="1" lang="ja-JP" altLang="en-US" dirty="0" smtClean="0">
                <a:latin typeface="Palatino"/>
                <a:ea typeface="ヒラギノ角ゴ Pro W3"/>
              </a:rPr>
              <a:t>の未定乗数法</a:t>
            </a:r>
            <a:endParaRPr kumimoji="1" lang="ja-JP" altLang="en-US" dirty="0">
              <a:latin typeface="Palatino"/>
              <a:ea typeface="ヒラギノ角ゴ Pro W3"/>
            </a:endParaRPr>
          </a:p>
        </p:txBody>
      </p:sp>
    </p:spTree>
    <p:extLst>
      <p:ext uri="{BB962C8B-B14F-4D97-AF65-F5344CB8AC3E}">
        <p14:creationId xmlns:p14="http://schemas.microsoft.com/office/powerpoint/2010/main" val="312735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モデルの空間的分割方法の違い</a:t>
            </a:r>
            <a:endParaRPr kumimoji="1" lang="ja-JP" altLang="en-US" dirty="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7</a:t>
            </a:fld>
            <a:endParaRPr lang="en-US"/>
          </a:p>
        </p:txBody>
      </p:sp>
      <p:sp>
        <p:nvSpPr>
          <p:cNvPr id="8" name="テキスト ボックス 7"/>
          <p:cNvSpPr txBox="1"/>
          <p:nvPr/>
        </p:nvSpPr>
        <p:spPr>
          <a:xfrm>
            <a:off x="457200" y="6002476"/>
            <a:ext cx="3542358" cy="646331"/>
          </a:xfrm>
          <a:prstGeom prst="rect">
            <a:avLst/>
          </a:prstGeom>
          <a:noFill/>
        </p:spPr>
        <p:txBody>
          <a:bodyPr wrap="none" rtlCol="0">
            <a:spAutoFit/>
          </a:bodyPr>
          <a:lstStyle/>
          <a:p>
            <a:pPr algn="ctr"/>
            <a:r>
              <a:rPr kumimoji="1" lang="en-US" altLang="ja-JP" dirty="0" smtClean="0">
                <a:latin typeface="Palatino"/>
                <a:ea typeface="ヒラギノ角ゴ Pro W3"/>
              </a:rPr>
              <a:t>Overlapping </a:t>
            </a:r>
            <a:r>
              <a:rPr kumimoji="1" lang="ja-JP" altLang="en-US" dirty="0" smtClean="0">
                <a:latin typeface="Palatino"/>
                <a:ea typeface="ヒラギノ角ゴ Pro W3"/>
              </a:rPr>
              <a:t>型の分割</a:t>
            </a:r>
            <a:endParaRPr kumimoji="1" lang="en-US" altLang="ja-JP" dirty="0" smtClean="0">
              <a:latin typeface="Palatino"/>
              <a:ea typeface="ヒラギノ角ゴ Pro W3"/>
            </a:endParaRPr>
          </a:p>
          <a:p>
            <a:pPr algn="ctr"/>
            <a:r>
              <a:rPr kumimoji="1" lang="en-US" altLang="ja-JP" dirty="0" smtClean="0">
                <a:latin typeface="Palatino"/>
                <a:ea typeface="ヒラギノ角ゴ Pro W3"/>
              </a:rPr>
              <a:t>(</a:t>
            </a:r>
            <a:r>
              <a:rPr kumimoji="1" lang="ja-JP" altLang="en-US" dirty="0" smtClean="0">
                <a:latin typeface="Palatino"/>
                <a:ea typeface="ヒラギノ角ゴ Pro W3"/>
              </a:rPr>
              <a:t>ズーミング法、重合メッシュ法</a:t>
            </a:r>
            <a:r>
              <a:rPr kumimoji="1" lang="en-US" altLang="ja-JP" dirty="0" smtClean="0">
                <a:latin typeface="Palatino"/>
                <a:ea typeface="ヒラギノ角ゴ Pro W3"/>
              </a:rPr>
              <a:t>)</a:t>
            </a:r>
            <a:endParaRPr kumimoji="1" lang="ja-JP" altLang="en-US" dirty="0">
              <a:latin typeface="Palatino"/>
              <a:ea typeface="ヒラギノ角ゴ Pro W3"/>
            </a:endParaRPr>
          </a:p>
        </p:txBody>
      </p:sp>
      <p:sp>
        <p:nvSpPr>
          <p:cNvPr id="9" name="テキスト ボックス 8"/>
          <p:cNvSpPr txBox="1"/>
          <p:nvPr/>
        </p:nvSpPr>
        <p:spPr>
          <a:xfrm>
            <a:off x="5419095" y="6002476"/>
            <a:ext cx="2942933" cy="646331"/>
          </a:xfrm>
          <a:prstGeom prst="rect">
            <a:avLst/>
          </a:prstGeom>
          <a:noFill/>
        </p:spPr>
        <p:txBody>
          <a:bodyPr wrap="none" rtlCol="0">
            <a:spAutoFit/>
          </a:bodyPr>
          <a:lstStyle/>
          <a:p>
            <a:pPr algn="ctr"/>
            <a:r>
              <a:rPr kumimoji="1" lang="en-US" altLang="ja-JP" dirty="0">
                <a:solidFill>
                  <a:srgbClr val="D2533C"/>
                </a:solidFill>
                <a:latin typeface="Palatino"/>
                <a:ea typeface="ヒラギノ角ゴ Pro W3"/>
              </a:rPr>
              <a:t>N</a:t>
            </a:r>
            <a:r>
              <a:rPr kumimoji="1" lang="en-US" altLang="ja-JP" dirty="0" smtClean="0">
                <a:solidFill>
                  <a:srgbClr val="D2533C"/>
                </a:solidFill>
                <a:latin typeface="Palatino"/>
                <a:ea typeface="ヒラギノ角ゴ Pro W3"/>
              </a:rPr>
              <a:t>on-overlapping </a:t>
            </a:r>
            <a:r>
              <a:rPr kumimoji="1" lang="ja-JP" altLang="en-US" dirty="0" smtClean="0">
                <a:solidFill>
                  <a:srgbClr val="D2533C"/>
                </a:solidFill>
                <a:latin typeface="Palatino"/>
                <a:ea typeface="ヒラギノ角ゴ Pro W3"/>
              </a:rPr>
              <a:t>型の分割</a:t>
            </a:r>
            <a:endParaRPr kumimoji="1" lang="en-US" altLang="ja-JP" dirty="0" smtClean="0">
              <a:solidFill>
                <a:srgbClr val="D2533C"/>
              </a:solidFill>
              <a:latin typeface="Palatino"/>
              <a:ea typeface="ヒラギノ角ゴ Pro W3"/>
            </a:endParaRPr>
          </a:p>
          <a:p>
            <a:pPr algn="ctr"/>
            <a:r>
              <a:rPr kumimoji="1" lang="en-US" altLang="ja-JP" dirty="0" smtClean="0">
                <a:solidFill>
                  <a:srgbClr val="D2533C"/>
                </a:solidFill>
                <a:latin typeface="Palatino"/>
                <a:ea typeface="ヒラギノ角ゴ Pro W3"/>
              </a:rPr>
              <a:t>(</a:t>
            </a:r>
            <a:r>
              <a:rPr kumimoji="1" lang="ja-JP" altLang="en-US" dirty="0" smtClean="0">
                <a:solidFill>
                  <a:srgbClr val="D2533C"/>
                </a:solidFill>
                <a:latin typeface="Palatino"/>
                <a:ea typeface="ヒラギノ角ゴ Pro W3"/>
              </a:rPr>
              <a:t>本手法</a:t>
            </a:r>
            <a:r>
              <a:rPr kumimoji="1" lang="en-US" altLang="ja-JP" dirty="0" smtClean="0">
                <a:solidFill>
                  <a:srgbClr val="D2533C"/>
                </a:solidFill>
                <a:latin typeface="Palatino"/>
                <a:ea typeface="ヒラギノ角ゴ Pro W3"/>
              </a:rPr>
              <a:t>)</a:t>
            </a:r>
            <a:endParaRPr kumimoji="1" lang="ja-JP" altLang="en-US" dirty="0">
              <a:solidFill>
                <a:srgbClr val="D2533C"/>
              </a:solidFill>
              <a:latin typeface="Palatino"/>
              <a:ea typeface="ヒラギノ角ゴ Pro W3"/>
            </a:endParaRPr>
          </a:p>
        </p:txBody>
      </p:sp>
      <p:pic>
        <p:nvPicPr>
          <p:cNvPr id="3" name="図 2" descr="overlapping_non_overlappin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73968"/>
            <a:ext cx="9144000" cy="4228508"/>
          </a:xfrm>
          <a:prstGeom prst="rect">
            <a:avLst/>
          </a:prstGeom>
        </p:spPr>
      </p:pic>
    </p:spTree>
    <p:extLst>
      <p:ext uri="{BB962C8B-B14F-4D97-AF65-F5344CB8AC3E}">
        <p14:creationId xmlns:p14="http://schemas.microsoft.com/office/powerpoint/2010/main" val="1655940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 8"/>
          <p:cNvGraphicFramePr>
            <a:graphicFrameLocks noGrp="1"/>
          </p:cNvGraphicFramePr>
          <p:nvPr>
            <p:extLst>
              <p:ext uri="{D42A27DB-BD31-4B8C-83A1-F6EECF244321}">
                <p14:modId xmlns:p14="http://schemas.microsoft.com/office/powerpoint/2010/main" val="1934803371"/>
              </p:ext>
            </p:extLst>
          </p:nvPr>
        </p:nvGraphicFramePr>
        <p:xfrm>
          <a:off x="457200" y="1657048"/>
          <a:ext cx="8229600" cy="5107430"/>
        </p:xfrm>
        <a:graphic>
          <a:graphicData uri="http://schemas.openxmlformats.org/drawingml/2006/table">
            <a:tbl>
              <a:tblPr firstRow="1" bandRow="1">
                <a:tableStyleId>{5940675A-B579-460E-94D1-54222C63F5DA}</a:tableStyleId>
              </a:tblPr>
              <a:tblGrid>
                <a:gridCol w="4114800"/>
                <a:gridCol w="4114800"/>
              </a:tblGrid>
              <a:tr h="2553715">
                <a:tc>
                  <a:txBody>
                    <a:bodyPr/>
                    <a:lstStyle/>
                    <a:p>
                      <a:endParaRPr kumimoji="1" lang="ja-JP" altLang="en-US" dirty="0"/>
                    </a:p>
                  </a:txBody>
                  <a:tcPr>
                    <a:lnL w="12700" cmpd="sng">
                      <a:noFill/>
                    </a:lnL>
                    <a:lnR w="12700" cap="flat" cmpd="sng" algn="ctr">
                      <a:solidFill>
                        <a:scrgbClr r="0" g="0" b="0"/>
                      </a:solidFill>
                      <a:prstDash val="solid"/>
                      <a:round/>
                      <a:headEnd type="none" w="med" len="med"/>
                      <a:tailEnd type="none" w="med" len="med"/>
                    </a:lnR>
                    <a:lnT w="12700" cmpd="sng">
                      <a:noFill/>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kumimoji="1" lang="ja-JP" altLang="en-US" dirty="0"/>
                    </a:p>
                  </a:txBody>
                  <a:tcPr>
                    <a:lnL w="12700" cap="flat" cmpd="sng" algn="ctr">
                      <a:solidFill>
                        <a:scrgbClr r="0" g="0" b="0"/>
                      </a:solidFill>
                      <a:prstDash val="solid"/>
                      <a:round/>
                      <a:headEnd type="none" w="med" len="med"/>
                      <a:tailEnd type="none" w="med" len="med"/>
                    </a:lnL>
                    <a:lnR w="12700" cmpd="sng">
                      <a:noFill/>
                    </a:lnR>
                    <a:lnT w="12700" cmpd="sng">
                      <a:noFill/>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r>
              <a:tr h="2553715">
                <a:tc>
                  <a:txBody>
                    <a:bodyPr/>
                    <a:lstStyle/>
                    <a:p>
                      <a:endParaRPr kumimoji="1" lang="ja-JP" altLang="en-US" dirty="0"/>
                    </a:p>
                  </a:txBody>
                  <a:tcPr>
                    <a:lnL w="12700" cmpd="sng">
                      <a:noFill/>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endParaRPr kumimoji="1" lang="ja-JP" altLang="en-US" dirty="0"/>
                    </a:p>
                  </a:txBody>
                  <a:tcPr>
                    <a:lnL w="12700" cap="flat" cmpd="sng" algn="ctr">
                      <a:solidFill>
                        <a:scrgbClr r="0" g="0" b="0"/>
                      </a:solidFill>
                      <a:prstDash val="solid"/>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r>
            </a:tbl>
          </a:graphicData>
        </a:graphic>
      </p:graphicFrame>
      <p:pic>
        <p:nvPicPr>
          <p:cNvPr id="21" name="図 20" descr="iterativ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4499710"/>
            <a:ext cx="3934485" cy="1778000"/>
          </a:xfrm>
          <a:prstGeom prst="rect">
            <a:avLst/>
          </a:prstGeom>
        </p:spPr>
      </p:pic>
      <p:pic>
        <p:nvPicPr>
          <p:cNvPr id="8" name="図 7" descr="monolithic.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4006" y="4499710"/>
            <a:ext cx="3952794" cy="1895436"/>
          </a:xfrm>
          <a:prstGeom prst="rect">
            <a:avLst/>
          </a:prstGeom>
        </p:spPr>
      </p:pic>
      <p:pic>
        <p:nvPicPr>
          <p:cNvPr id="3" name="図 2" descr="staggered.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7100" y="1837426"/>
            <a:ext cx="3949700" cy="1730671"/>
          </a:xfrm>
          <a:prstGeom prst="rect">
            <a:avLst/>
          </a:prstGeom>
        </p:spPr>
      </p:pic>
      <p:pic>
        <p:nvPicPr>
          <p:cNvPr id="7" name="図 6" descr="oneway.eps"/>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 y="1790097"/>
            <a:ext cx="3934485" cy="1778000"/>
          </a:xfrm>
          <a:prstGeom prst="rect">
            <a:avLst/>
          </a:prstGeom>
        </p:spPr>
      </p:pic>
      <p:sp>
        <p:nvSpPr>
          <p:cNvPr id="2" name="タイトル 1"/>
          <p:cNvSpPr>
            <a:spLocks noGrp="1"/>
          </p:cNvSpPr>
          <p:nvPr>
            <p:ph type="title"/>
          </p:nvPr>
        </p:nvSpPr>
        <p:spPr/>
        <p:txBody>
          <a:bodyPr>
            <a:normAutofit fontScale="90000"/>
          </a:bodyPr>
          <a:lstStyle/>
          <a:p>
            <a:r>
              <a:rPr lang="ja-JP" altLang="en-US" dirty="0" smtClean="0"/>
              <a:t>マルチフィジックス</a:t>
            </a:r>
            <a:r>
              <a:rPr kumimoji="1" lang="ja-JP" altLang="en-US" dirty="0" smtClean="0"/>
              <a:t>連成解析</a:t>
            </a:r>
            <a:r>
              <a:rPr lang="ja-JP" altLang="en-US" dirty="0" smtClean="0"/>
              <a:t>の視点での大規模破壊力学解析手法の分類</a:t>
            </a:r>
            <a:endParaRPr kumimoji="1" lang="ja-JP" altLang="en-US" dirty="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8</a:t>
            </a:fld>
            <a:endParaRPr lang="en-US"/>
          </a:p>
        </p:txBody>
      </p:sp>
      <p:sp>
        <p:nvSpPr>
          <p:cNvPr id="14" name="テキスト ボックス 13"/>
          <p:cNvSpPr txBox="1"/>
          <p:nvPr/>
        </p:nvSpPr>
        <p:spPr>
          <a:xfrm>
            <a:off x="5454952" y="3733625"/>
            <a:ext cx="2492990" cy="369332"/>
          </a:xfrm>
          <a:prstGeom prst="rect">
            <a:avLst/>
          </a:prstGeom>
          <a:noFill/>
        </p:spPr>
        <p:txBody>
          <a:bodyPr wrap="none" rtlCol="0">
            <a:spAutoFit/>
          </a:bodyPr>
          <a:lstStyle/>
          <a:p>
            <a:r>
              <a:rPr kumimoji="1" lang="ja-JP" altLang="en-US" dirty="0" smtClean="0">
                <a:latin typeface="Palatino"/>
                <a:ea typeface="ヒラギノ角ゴ Pro W3"/>
              </a:rPr>
              <a:t>分離型双方向時差解法</a:t>
            </a:r>
            <a:endParaRPr kumimoji="1" lang="ja-JP" altLang="en-US" dirty="0">
              <a:latin typeface="Palatino"/>
              <a:ea typeface="ヒラギノ角ゴ Pro W3"/>
            </a:endParaRPr>
          </a:p>
        </p:txBody>
      </p:sp>
      <p:sp>
        <p:nvSpPr>
          <p:cNvPr id="15" name="テキスト ボックス 14"/>
          <p:cNvSpPr txBox="1"/>
          <p:nvPr/>
        </p:nvSpPr>
        <p:spPr>
          <a:xfrm>
            <a:off x="1404861" y="3733411"/>
            <a:ext cx="2031325" cy="369332"/>
          </a:xfrm>
          <a:prstGeom prst="rect">
            <a:avLst/>
          </a:prstGeom>
          <a:noFill/>
        </p:spPr>
        <p:txBody>
          <a:bodyPr wrap="none" rtlCol="0">
            <a:spAutoFit/>
          </a:bodyPr>
          <a:lstStyle/>
          <a:p>
            <a:r>
              <a:rPr kumimoji="1" lang="ja-JP" altLang="en-US" dirty="0" smtClean="0">
                <a:latin typeface="Palatino"/>
                <a:ea typeface="ヒラギノ角ゴ Pro W3"/>
              </a:rPr>
              <a:t>分離型片方向解法</a:t>
            </a:r>
            <a:endParaRPr kumimoji="1" lang="ja-JP" altLang="en-US" dirty="0">
              <a:latin typeface="Palatino"/>
              <a:ea typeface="ヒラギノ角ゴ Pro W3"/>
            </a:endParaRPr>
          </a:p>
        </p:txBody>
      </p:sp>
      <p:sp>
        <p:nvSpPr>
          <p:cNvPr id="16" name="テキスト ボックス 15"/>
          <p:cNvSpPr txBox="1"/>
          <p:nvPr/>
        </p:nvSpPr>
        <p:spPr>
          <a:xfrm>
            <a:off x="1265161" y="6395146"/>
            <a:ext cx="2492990" cy="369332"/>
          </a:xfrm>
          <a:prstGeom prst="rect">
            <a:avLst/>
          </a:prstGeom>
          <a:noFill/>
        </p:spPr>
        <p:txBody>
          <a:bodyPr wrap="none" rtlCol="0">
            <a:spAutoFit/>
          </a:bodyPr>
          <a:lstStyle/>
          <a:p>
            <a:r>
              <a:rPr kumimoji="1" lang="ja-JP" altLang="en-US" dirty="0" smtClean="0">
                <a:solidFill>
                  <a:srgbClr val="D2533C"/>
                </a:solidFill>
                <a:latin typeface="Palatino"/>
                <a:ea typeface="ヒラギノ角ゴ Pro W3"/>
              </a:rPr>
              <a:t>分離型双方向反復解法</a:t>
            </a:r>
            <a:endParaRPr kumimoji="1" lang="ja-JP" altLang="en-US" dirty="0">
              <a:solidFill>
                <a:srgbClr val="D2533C"/>
              </a:solidFill>
              <a:latin typeface="Palatino"/>
              <a:ea typeface="ヒラギノ角ゴ Pro W3"/>
            </a:endParaRPr>
          </a:p>
        </p:txBody>
      </p:sp>
      <p:sp>
        <p:nvSpPr>
          <p:cNvPr id="17" name="テキスト ボックス 16"/>
          <p:cNvSpPr txBox="1"/>
          <p:nvPr/>
        </p:nvSpPr>
        <p:spPr>
          <a:xfrm>
            <a:off x="6204972" y="6395146"/>
            <a:ext cx="1338828" cy="369332"/>
          </a:xfrm>
          <a:prstGeom prst="rect">
            <a:avLst/>
          </a:prstGeom>
          <a:noFill/>
        </p:spPr>
        <p:txBody>
          <a:bodyPr wrap="none" rtlCol="0">
            <a:spAutoFit/>
          </a:bodyPr>
          <a:lstStyle/>
          <a:p>
            <a:r>
              <a:rPr kumimoji="1" lang="ja-JP" altLang="en-US" dirty="0" smtClean="0">
                <a:latin typeface="Palatino"/>
                <a:ea typeface="ヒラギノ角ゴ Pro W3"/>
              </a:rPr>
              <a:t>一体型解法</a:t>
            </a:r>
            <a:endParaRPr kumimoji="1" lang="ja-JP" altLang="en-US" dirty="0">
              <a:latin typeface="Palatino"/>
              <a:ea typeface="ヒラギノ角ゴ Pro W3"/>
            </a:endParaRPr>
          </a:p>
        </p:txBody>
      </p:sp>
      <p:sp>
        <p:nvSpPr>
          <p:cNvPr id="18" name="角丸四角形吹き出し 17"/>
          <p:cNvSpPr/>
          <p:nvPr/>
        </p:nvSpPr>
        <p:spPr>
          <a:xfrm>
            <a:off x="103657" y="3292541"/>
            <a:ext cx="1690976" cy="440870"/>
          </a:xfrm>
          <a:prstGeom prst="wedgeRoundRectCallout">
            <a:avLst>
              <a:gd name="adj1" fmla="val 64468"/>
              <a:gd name="adj2" fmla="val 54129"/>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dirty="0" smtClean="0">
                <a:latin typeface="Palatino"/>
                <a:ea typeface="ヒラギノ角ゴ Pro W3"/>
              </a:rPr>
              <a:t>ズーミング法</a:t>
            </a:r>
            <a:endParaRPr kumimoji="1" lang="ja-JP" altLang="en-US" dirty="0">
              <a:latin typeface="Palatino"/>
              <a:ea typeface="ヒラギノ角ゴ Pro W3"/>
            </a:endParaRPr>
          </a:p>
        </p:txBody>
      </p:sp>
      <p:sp>
        <p:nvSpPr>
          <p:cNvPr id="19" name="角丸四角形吹き出し 18"/>
          <p:cNvSpPr/>
          <p:nvPr/>
        </p:nvSpPr>
        <p:spPr>
          <a:xfrm>
            <a:off x="7063319" y="5989022"/>
            <a:ext cx="1922843" cy="440870"/>
          </a:xfrm>
          <a:prstGeom prst="wedgeRoundRectCallout">
            <a:avLst>
              <a:gd name="adj1" fmla="val -61338"/>
              <a:gd name="adj2" fmla="val 48643"/>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en-US" dirty="0" smtClean="0">
                <a:latin typeface="Palatino"/>
                <a:ea typeface="ヒラギノ角ゴ Pro W3"/>
              </a:rPr>
              <a:t>重合メッシュ</a:t>
            </a:r>
            <a:r>
              <a:rPr lang="ja-JP" altLang="en-US" dirty="0" smtClean="0">
                <a:latin typeface="Palatino"/>
                <a:ea typeface="ヒラギノ角ゴ Pro W3"/>
              </a:rPr>
              <a:t>法</a:t>
            </a:r>
            <a:endParaRPr kumimoji="1" lang="ja-JP" altLang="en-US" dirty="0">
              <a:latin typeface="Palatino"/>
              <a:ea typeface="ヒラギノ角ゴ Pro W3"/>
            </a:endParaRPr>
          </a:p>
        </p:txBody>
      </p:sp>
      <p:sp>
        <p:nvSpPr>
          <p:cNvPr id="20" name="角丸四角形吹き出し 19"/>
          <p:cNvSpPr/>
          <p:nvPr/>
        </p:nvSpPr>
        <p:spPr>
          <a:xfrm>
            <a:off x="103657" y="5954276"/>
            <a:ext cx="1161504" cy="440870"/>
          </a:xfrm>
          <a:prstGeom prst="wedgeRoundRectCallout">
            <a:avLst>
              <a:gd name="adj1" fmla="val 67592"/>
              <a:gd name="adj2" fmla="val 45899"/>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en-US" dirty="0" smtClean="0">
                <a:solidFill>
                  <a:srgbClr val="D2533C"/>
                </a:solidFill>
                <a:latin typeface="Palatino"/>
                <a:ea typeface="ヒラギノ角ゴ Pro W3"/>
              </a:rPr>
              <a:t>本手法</a:t>
            </a:r>
            <a:endParaRPr kumimoji="1" lang="ja-JP" altLang="en-US" dirty="0">
              <a:solidFill>
                <a:srgbClr val="D2533C"/>
              </a:solidFill>
              <a:latin typeface="Palatino"/>
              <a:ea typeface="ヒラギノ角ゴ Pro W3"/>
            </a:endParaRPr>
          </a:p>
        </p:txBody>
      </p:sp>
    </p:spTree>
    <p:extLst>
      <p:ext uri="{BB962C8B-B14F-4D97-AF65-F5344CB8AC3E}">
        <p14:creationId xmlns:p14="http://schemas.microsoft.com/office/powerpoint/2010/main" val="3599339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大規模破壊力学解析手法の立ち位置</a:t>
            </a:r>
            <a:endParaRPr kumimoji="1" lang="ja-JP" altLang="en-US" dirty="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9</a:t>
            </a:fld>
            <a:endParaRPr lang="en-US"/>
          </a:p>
        </p:txBody>
      </p:sp>
      <p:graphicFrame>
        <p:nvGraphicFramePr>
          <p:cNvPr id="7" name="表 6"/>
          <p:cNvGraphicFramePr>
            <a:graphicFrameLocks noGrp="1"/>
          </p:cNvGraphicFramePr>
          <p:nvPr>
            <p:extLst>
              <p:ext uri="{D42A27DB-BD31-4B8C-83A1-F6EECF244321}">
                <p14:modId xmlns:p14="http://schemas.microsoft.com/office/powerpoint/2010/main" val="754136288"/>
              </p:ext>
            </p:extLst>
          </p:nvPr>
        </p:nvGraphicFramePr>
        <p:xfrm>
          <a:off x="754405" y="1524000"/>
          <a:ext cx="7682342" cy="4386255"/>
        </p:xfrm>
        <a:graphic>
          <a:graphicData uri="http://schemas.openxmlformats.org/drawingml/2006/table">
            <a:tbl>
              <a:tblPr firstRow="1" firstCol="1">
                <a:tableStyleId>{5940675A-B579-460E-94D1-54222C63F5DA}</a:tableStyleId>
              </a:tblPr>
              <a:tblGrid>
                <a:gridCol w="985725"/>
                <a:gridCol w="1245126"/>
                <a:gridCol w="2721520"/>
                <a:gridCol w="2729971"/>
              </a:tblGrid>
              <a:tr h="877251">
                <a:tc gridSpan="2">
                  <a:txBody>
                    <a:bodyPr/>
                    <a:lstStyle/>
                    <a:p>
                      <a:endParaRPr kumimoji="1" lang="ja-JP" altLang="en-US" dirty="0">
                        <a:latin typeface="Palatino"/>
                        <a:ea typeface="ヒラギノ角ゴ Pro W3"/>
                      </a:endParaRPr>
                    </a:p>
                  </a:txBody>
                  <a:tcPr anchor="ctr" anchorCtr="1">
                    <a:lnL w="12700" cmpd="sng">
                      <a:noFill/>
                    </a:lnL>
                    <a:lnR w="38100" cap="flat" cmpd="sng" algn="ctr">
                      <a:solidFill>
                        <a:srgbClr val="000000"/>
                      </a:solidFill>
                      <a:prstDash val="solid"/>
                      <a:round/>
                      <a:headEnd type="none" w="med" len="med"/>
                      <a:tailEnd type="none" w="med" len="med"/>
                    </a:lnR>
                    <a:lnT w="12700" cmpd="sng">
                      <a:noFill/>
                    </a:lnT>
                    <a:lnB w="381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kumimoji="1" lang="ja-JP" alt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mpd="sng">
                      <a:noFill/>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dirty="0" smtClean="0">
                          <a:latin typeface="Palatino"/>
                          <a:ea typeface="ヒラギノ角ゴ Pro W3"/>
                        </a:rPr>
                        <a:t>Overlapping</a:t>
                      </a:r>
                    </a:p>
                    <a:p>
                      <a:pPr algn="ctr"/>
                      <a:r>
                        <a:rPr kumimoji="1" lang="en-US" altLang="ja-JP" dirty="0" smtClean="0">
                          <a:latin typeface="Palatino"/>
                          <a:ea typeface="ヒラギノ角ゴ Pro W3"/>
                        </a:rPr>
                        <a:t>(</a:t>
                      </a:r>
                      <a:r>
                        <a:rPr kumimoji="1" lang="ja-JP" altLang="en-US" dirty="0" smtClean="0">
                          <a:latin typeface="Palatino"/>
                          <a:ea typeface="ヒラギノ角ゴ Pro W3"/>
                        </a:rPr>
                        <a:t>領域が重なり合う</a:t>
                      </a:r>
                      <a:r>
                        <a:rPr kumimoji="1" lang="en-US" altLang="ja-JP" dirty="0" smtClean="0">
                          <a:latin typeface="Palatino"/>
                          <a:ea typeface="ヒラギノ角ゴ Pro W3"/>
                        </a:rPr>
                        <a:t>)</a:t>
                      </a:r>
                      <a:endParaRPr kumimoji="1" lang="ja-JP" altLang="en-US" dirty="0">
                        <a:latin typeface="Palatino"/>
                        <a:ea typeface="ヒラギノ角ゴ Pro W3"/>
                      </a:endParaRPr>
                    </a:p>
                  </a:txBody>
                  <a:tcPr anchor="ctr" anchorCtr="1">
                    <a:lnL w="38100" cap="flat" cmpd="sng" algn="ctr">
                      <a:solidFill>
                        <a:srgbClr val="000000"/>
                      </a:solidFill>
                      <a:prstDash val="solid"/>
                      <a:round/>
                      <a:headEnd type="none" w="med" len="med"/>
                      <a:tailEnd type="none" w="med" len="med"/>
                    </a:lnL>
                    <a:lnR w="12700" cap="flat" cmpd="sng" algn="ctr">
                      <a:solidFill>
                        <a:srgbClr val="000000"/>
                      </a:solidFill>
                      <a:prstDash val="dash"/>
                      <a:round/>
                      <a:headEnd type="none" w="med" len="med"/>
                      <a:tailEnd type="none" w="med" len="med"/>
                    </a:lnR>
                    <a:lnT w="12700" cmpd="sng">
                      <a:noFill/>
                    </a:lnT>
                    <a:lnB w="381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dirty="0" smtClean="0">
                          <a:solidFill>
                            <a:srgbClr val="D2533C"/>
                          </a:solidFill>
                          <a:latin typeface="Palatino"/>
                          <a:ea typeface="ヒラギノ角ゴ Pro W3"/>
                        </a:rPr>
                        <a:t>Non-overlapping</a:t>
                      </a:r>
                    </a:p>
                    <a:p>
                      <a:pPr algn="ctr"/>
                      <a:r>
                        <a:rPr kumimoji="1" lang="en-US" altLang="ja-JP" dirty="0" smtClean="0">
                          <a:solidFill>
                            <a:srgbClr val="D2533C"/>
                          </a:solidFill>
                          <a:latin typeface="Palatino"/>
                          <a:ea typeface="ヒラギノ角ゴ Pro W3"/>
                        </a:rPr>
                        <a:t>(</a:t>
                      </a:r>
                      <a:r>
                        <a:rPr kumimoji="1" lang="ja-JP" altLang="en-US" dirty="0" smtClean="0">
                          <a:solidFill>
                            <a:srgbClr val="D2533C"/>
                          </a:solidFill>
                          <a:latin typeface="Palatino"/>
                          <a:ea typeface="ヒラギノ角ゴ Pro W3"/>
                        </a:rPr>
                        <a:t>領域が重なり合わない</a:t>
                      </a:r>
                      <a:r>
                        <a:rPr kumimoji="1" lang="en-US" altLang="ja-JP" dirty="0" smtClean="0">
                          <a:solidFill>
                            <a:srgbClr val="D2533C"/>
                          </a:solidFill>
                          <a:latin typeface="Palatino"/>
                          <a:ea typeface="ヒラギノ角ゴ Pro W3"/>
                        </a:rPr>
                        <a:t>)</a:t>
                      </a:r>
                      <a:endParaRPr kumimoji="1" lang="ja-JP" altLang="en-US" dirty="0">
                        <a:solidFill>
                          <a:srgbClr val="D2533C"/>
                        </a:solidFill>
                        <a:latin typeface="Palatino"/>
                        <a:ea typeface="ヒラギノ角ゴ Pro W3"/>
                      </a:endParaRPr>
                    </a:p>
                  </a:txBody>
                  <a:tcPr anchor="ctr" anchorCtr="1">
                    <a:lnL w="12700" cap="flat" cmpd="sng" algn="ctr">
                      <a:solidFill>
                        <a:srgbClr val="000000"/>
                      </a:solidFill>
                      <a:prstDash val="dash"/>
                      <a:round/>
                      <a:headEnd type="none" w="med" len="med"/>
                      <a:tailEnd type="none" w="med" len="med"/>
                    </a:lnL>
                    <a:lnR w="12700" cmpd="sng">
                      <a:noFill/>
                    </a:lnR>
                    <a:lnT w="12700" cmpd="sng">
                      <a:noFill/>
                    </a:lnT>
                    <a:lnB w="381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r>
              <a:tr h="877251">
                <a:tc rowSpan="3">
                  <a:txBody>
                    <a:bodyPr/>
                    <a:lstStyle/>
                    <a:p>
                      <a:r>
                        <a:rPr kumimoji="1" lang="ja-JP" altLang="en-US" dirty="0" smtClean="0">
                          <a:solidFill>
                            <a:srgbClr val="D2533C"/>
                          </a:solidFill>
                          <a:latin typeface="Palatino"/>
                          <a:ea typeface="ヒラギノ角ゴ Pro W3"/>
                        </a:rPr>
                        <a:t>分離型</a:t>
                      </a:r>
                      <a:endParaRPr kumimoji="1" lang="ja-JP" altLang="en-US" dirty="0">
                        <a:solidFill>
                          <a:srgbClr val="D2533C"/>
                        </a:solidFill>
                        <a:latin typeface="Palatino"/>
                        <a:ea typeface="ヒラギノ角ゴ Pro W3"/>
                      </a:endParaRPr>
                    </a:p>
                  </a:txBody>
                  <a:tcPr anchor="ctr" anchorCtr="1">
                    <a:lnL w="12700" cmpd="sng">
                      <a:noFill/>
                    </a:lnL>
                    <a:lnR w="12700" cap="flat" cmpd="sng" algn="ctr">
                      <a:solidFill>
                        <a:srgbClr val="000000"/>
                      </a:solidFill>
                      <a:prstDash val="dash"/>
                      <a:round/>
                      <a:headEnd type="none" w="med" len="med"/>
                      <a:tailEnd type="none" w="med" len="med"/>
                    </a:lnR>
                    <a:lnT w="38100" cap="flat" cmpd="sng" algn="ctr">
                      <a:solidFill>
                        <a:srgbClr val="00000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dirty="0" smtClean="0">
                          <a:latin typeface="Palatino"/>
                          <a:ea typeface="ヒラギノ角ゴ Pro W3"/>
                        </a:rPr>
                        <a:t>片方向</a:t>
                      </a:r>
                      <a:endParaRPr kumimoji="1" lang="ja-JP" altLang="en-US" dirty="0">
                        <a:latin typeface="Palatino"/>
                        <a:ea typeface="ヒラギノ角ゴ Pro W3"/>
                      </a:endParaRPr>
                    </a:p>
                  </a:txBody>
                  <a:tcPr anchor="ctr" anchorCtr="1">
                    <a:lnL w="12700" cap="flat" cmpd="sng" algn="ctr">
                      <a:solidFill>
                        <a:srgbClr val="000000"/>
                      </a:solidFill>
                      <a:prstDash val="dash"/>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lnTlToBr w="12700" cmpd="sng">
                      <a:noFill/>
                      <a:prstDash val="solid"/>
                    </a:lnTlToBr>
                    <a:lnBlToTr w="12700" cmpd="sng">
                      <a:noFill/>
                      <a:prstDash val="solid"/>
                    </a:lnBlToTr>
                  </a:tcPr>
                </a:tc>
                <a:tc>
                  <a:txBody>
                    <a:bodyPr/>
                    <a:lstStyle/>
                    <a:p>
                      <a:r>
                        <a:rPr kumimoji="1" lang="ja-JP" altLang="en-US" dirty="0" smtClean="0">
                          <a:latin typeface="Palatino"/>
                          <a:ea typeface="ヒラギノ角ゴ Pro W3"/>
                        </a:rPr>
                        <a:t>ズーミング法</a:t>
                      </a:r>
                      <a:endParaRPr kumimoji="1" lang="ja-JP" altLang="en-US" dirty="0">
                        <a:latin typeface="Palatino"/>
                        <a:ea typeface="ヒラギノ角ゴ Pro W3"/>
                      </a:endParaRPr>
                    </a:p>
                  </a:txBody>
                  <a:tcPr anchor="ctr" anchorCtr="1">
                    <a:lnL w="38100" cap="flat" cmpd="sng" algn="ctr">
                      <a:solidFill>
                        <a:srgbClr val="000000"/>
                      </a:solidFill>
                      <a:prstDash val="solid"/>
                      <a:round/>
                      <a:headEnd type="none" w="med" len="med"/>
                      <a:tailEnd type="none" w="med" len="med"/>
                    </a:lnL>
                    <a:lnR w="12700" cap="flat" cmpd="sng" algn="ctr">
                      <a:solidFill>
                        <a:srgbClr val="000000"/>
                      </a:solidFill>
                      <a:prstDash val="dash"/>
                      <a:round/>
                      <a:headEnd type="none" w="med" len="med"/>
                      <a:tailEnd type="none" w="med" len="med"/>
                    </a:lnR>
                    <a:lnT w="381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kumimoji="1" lang="en-US" altLang="ja-JP" dirty="0" smtClean="0">
                          <a:latin typeface="Palatino"/>
                          <a:ea typeface="ヒラギノ角ゴ Pro W3"/>
                        </a:rPr>
                        <a:t>N/A</a:t>
                      </a:r>
                      <a:endParaRPr kumimoji="1" lang="ja-JP" altLang="en-US" dirty="0">
                        <a:latin typeface="Palatino"/>
                        <a:ea typeface="ヒラギノ角ゴ Pro W3"/>
                      </a:endParaRPr>
                    </a:p>
                  </a:txBody>
                  <a:tcPr anchor="ctr" anchorCtr="1">
                    <a:lnL w="12700" cap="flat" cmpd="sng" algn="ctr">
                      <a:solidFill>
                        <a:srgbClr val="000000"/>
                      </a:solidFill>
                      <a:prstDash val="dash"/>
                      <a:round/>
                      <a:headEnd type="none" w="med" len="med"/>
                      <a:tailEnd type="none" w="med" len="med"/>
                    </a:lnL>
                    <a:lnR w="12700" cmpd="sng">
                      <a:noFill/>
                    </a:lnR>
                    <a:lnT w="381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r>
              <a:tr h="877251">
                <a:tc vMerge="1">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kumimoji="1" lang="ja-JP" altLang="en-US" dirty="0" smtClean="0">
                          <a:latin typeface="Palatino"/>
                          <a:ea typeface="ヒラギノ角ゴ Pro W3"/>
                        </a:rPr>
                        <a:t>双方向</a:t>
                      </a:r>
                      <a:endParaRPr kumimoji="1" lang="en-US" altLang="ja-JP" dirty="0" smtClean="0">
                        <a:latin typeface="Palatino"/>
                        <a:ea typeface="ヒラギノ角ゴ Pro W3"/>
                      </a:endParaRPr>
                    </a:p>
                    <a:p>
                      <a:r>
                        <a:rPr kumimoji="1" lang="ja-JP" altLang="en-US" dirty="0" smtClean="0">
                          <a:latin typeface="Palatino"/>
                          <a:ea typeface="ヒラギノ角ゴ Pro W3"/>
                        </a:rPr>
                        <a:t>時差</a:t>
                      </a:r>
                      <a:endParaRPr kumimoji="1" lang="ja-JP" altLang="en-US" dirty="0">
                        <a:latin typeface="Palatino"/>
                        <a:ea typeface="ヒラギノ角ゴ Pro W3"/>
                      </a:endParaRPr>
                    </a:p>
                  </a:txBody>
                  <a:tcPr anchor="ctr" anchorCtr="1">
                    <a:lnL w="12700" cap="flat" cmpd="sng" algn="ctr">
                      <a:solidFill>
                        <a:srgbClr val="000000"/>
                      </a:solidFill>
                      <a:prstDash val="dash"/>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lnTlToBr w="12700" cmpd="sng">
                      <a:noFill/>
                      <a:prstDash val="solid"/>
                    </a:lnTlToBr>
                    <a:lnBlToTr w="12700" cmpd="sng">
                      <a:noFill/>
                      <a:prstDash val="solid"/>
                    </a:lnBlToTr>
                  </a:tcPr>
                </a:tc>
                <a:tc>
                  <a:txBody>
                    <a:bodyPr/>
                    <a:lstStyle/>
                    <a:p>
                      <a:r>
                        <a:rPr kumimoji="1" lang="en-US" altLang="ja-JP" dirty="0" smtClean="0">
                          <a:latin typeface="Palatino"/>
                          <a:ea typeface="ヒラギノ角ゴ Pro W3"/>
                        </a:rPr>
                        <a:t>N/A</a:t>
                      </a:r>
                      <a:endParaRPr kumimoji="1" lang="ja-JP" altLang="en-US" dirty="0">
                        <a:latin typeface="Palatino"/>
                        <a:ea typeface="ヒラギノ角ゴ Pro W3"/>
                      </a:endParaRPr>
                    </a:p>
                  </a:txBody>
                  <a:tcPr anchor="ctr" anchorCtr="1">
                    <a:lnL w="38100" cap="flat" cmpd="sng" algn="ctr">
                      <a:solidFill>
                        <a:srgbClr val="000000"/>
                      </a:solidFill>
                      <a:prstDash val="solid"/>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kumimoji="1" lang="en-US" altLang="ja-JP" dirty="0" smtClean="0">
                          <a:latin typeface="Palatino"/>
                          <a:ea typeface="ヒラギノ角ゴ Pro W3"/>
                        </a:rPr>
                        <a:t>N/A</a:t>
                      </a:r>
                      <a:endParaRPr kumimoji="1" lang="ja-JP" altLang="en-US" dirty="0">
                        <a:latin typeface="Palatino"/>
                        <a:ea typeface="ヒラギノ角ゴ Pro W3"/>
                      </a:endParaRPr>
                    </a:p>
                  </a:txBody>
                  <a:tcPr anchor="ctr" anchorCtr="1">
                    <a:lnL w="12700" cap="flat" cmpd="sng" algn="ctr">
                      <a:solidFill>
                        <a:srgbClr val="000000"/>
                      </a:solidFill>
                      <a:prstDash val="dash"/>
                      <a:round/>
                      <a:headEnd type="none" w="med" len="med"/>
                      <a:tailEnd type="none" w="med" len="med"/>
                    </a:lnL>
                    <a:lnR w="12700" cmpd="sng">
                      <a:noFill/>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r>
              <a:tr h="877251">
                <a:tc vMerge="1">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kumimoji="1" lang="ja-JP" altLang="en-US" dirty="0" smtClean="0">
                          <a:solidFill>
                            <a:srgbClr val="D2533C"/>
                          </a:solidFill>
                          <a:latin typeface="Palatino"/>
                          <a:ea typeface="ヒラギノ角ゴ Pro W3"/>
                        </a:rPr>
                        <a:t>双方向</a:t>
                      </a:r>
                      <a:endParaRPr kumimoji="1" lang="en-US" altLang="ja-JP" dirty="0" smtClean="0">
                        <a:solidFill>
                          <a:srgbClr val="D2533C"/>
                        </a:solidFill>
                        <a:latin typeface="Palatino"/>
                        <a:ea typeface="ヒラギノ角ゴ Pro W3"/>
                      </a:endParaRPr>
                    </a:p>
                    <a:p>
                      <a:r>
                        <a:rPr kumimoji="1" lang="ja-JP" altLang="en-US" dirty="0" smtClean="0">
                          <a:solidFill>
                            <a:srgbClr val="D2533C"/>
                          </a:solidFill>
                          <a:latin typeface="Palatino"/>
                          <a:ea typeface="ヒラギノ角ゴ Pro W3"/>
                        </a:rPr>
                        <a:t>反復</a:t>
                      </a:r>
                      <a:endParaRPr kumimoji="1" lang="ja-JP" altLang="en-US" dirty="0">
                        <a:solidFill>
                          <a:srgbClr val="D2533C"/>
                        </a:solidFill>
                        <a:latin typeface="Palatino"/>
                        <a:ea typeface="ヒラギノ角ゴ Pro W3"/>
                      </a:endParaRPr>
                    </a:p>
                  </a:txBody>
                  <a:tcPr anchor="ctr" anchorCtr="1">
                    <a:lnL w="12700" cap="flat" cmpd="sng" algn="ctr">
                      <a:solidFill>
                        <a:srgbClr val="000000"/>
                      </a:solidFill>
                      <a:prstDash val="dash"/>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dirty="0" smtClean="0">
                          <a:latin typeface="Palatino"/>
                          <a:ea typeface="ヒラギノ角ゴ Pro W3"/>
                        </a:rPr>
                        <a:t>重合メッシュ法を反復法で解く解法</a:t>
                      </a:r>
                      <a:r>
                        <a:rPr kumimoji="1" lang="en-US" altLang="ja-JP" dirty="0" smtClean="0">
                          <a:latin typeface="Palatino"/>
                          <a:ea typeface="ヒラギノ角ゴ Pro W3"/>
                        </a:rPr>
                        <a:t> </a:t>
                      </a:r>
                      <a:r>
                        <a:rPr kumimoji="1" lang="en-US" altLang="ja-JP" sz="1200" dirty="0" smtClean="0">
                          <a:latin typeface="Palatino"/>
                          <a:ea typeface="ヒラギノ角ゴ Pro W3"/>
                        </a:rPr>
                        <a:t>[</a:t>
                      </a:r>
                      <a:r>
                        <a:rPr kumimoji="1" lang="ja-JP" altLang="en-US" sz="1200" dirty="0" smtClean="0">
                          <a:latin typeface="Palatino"/>
                          <a:ea typeface="ヒラギノ角ゴ Pro W3"/>
                        </a:rPr>
                        <a:t>鈴木ら</a:t>
                      </a:r>
                      <a:r>
                        <a:rPr kumimoji="1" lang="en-US" altLang="ja-JP" sz="1200" dirty="0" smtClean="0">
                          <a:latin typeface="Palatino"/>
                          <a:ea typeface="ヒラギノ角ゴ Pro W3"/>
                        </a:rPr>
                        <a:t> (1999)]</a:t>
                      </a:r>
                      <a:endParaRPr kumimoji="1" lang="ja-JP" altLang="en-US" sz="1200" dirty="0">
                        <a:latin typeface="Palatino"/>
                        <a:ea typeface="ヒラギノ角ゴ Pro W3"/>
                      </a:endParaRPr>
                    </a:p>
                  </a:txBody>
                  <a:tcPr anchor="ctr" anchorCtr="1">
                    <a:lnL w="38100" cap="flat" cmpd="sng" algn="ctr">
                      <a:solidFill>
                        <a:srgbClr val="000000"/>
                      </a:solidFill>
                      <a:prstDash val="solid"/>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kumimoji="1" lang="ja-JP" altLang="en-US" dirty="0" smtClean="0">
                          <a:solidFill>
                            <a:srgbClr val="D2533C"/>
                          </a:solidFill>
                          <a:latin typeface="Palatino"/>
                          <a:ea typeface="ヒラギノ角ゴ Pro W3"/>
                        </a:rPr>
                        <a:t>本手法</a:t>
                      </a:r>
                      <a:endParaRPr kumimoji="1" lang="ja-JP" altLang="en-US" dirty="0">
                        <a:solidFill>
                          <a:srgbClr val="D2533C"/>
                        </a:solidFill>
                        <a:latin typeface="Palatino"/>
                        <a:ea typeface="ヒラギノ角ゴ Pro W3"/>
                      </a:endParaRPr>
                    </a:p>
                  </a:txBody>
                  <a:tcPr anchor="ctr" anchorCtr="1">
                    <a:lnL w="12700" cap="flat" cmpd="sng" algn="ctr">
                      <a:solidFill>
                        <a:srgbClr val="000000"/>
                      </a:solidFill>
                      <a:prstDash val="dash"/>
                      <a:round/>
                      <a:headEnd type="none" w="med" len="med"/>
                      <a:tailEnd type="none" w="med" len="med"/>
                    </a:lnL>
                    <a:lnR w="12700" cmpd="sng">
                      <a:noFill/>
                    </a:lnR>
                    <a:lnT w="12700" cap="flat" cmpd="sng" algn="ctr">
                      <a:solidFill>
                        <a:srgbClr val="000000"/>
                      </a:solidFill>
                      <a:prstDash val="dash"/>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r>
              <a:tr h="877251">
                <a:tc gridSpan="2">
                  <a:txBody>
                    <a:bodyPr/>
                    <a:lstStyle/>
                    <a:p>
                      <a:r>
                        <a:rPr kumimoji="1" lang="ja-JP" altLang="en-US" dirty="0" smtClean="0">
                          <a:latin typeface="Palatino"/>
                          <a:ea typeface="ヒラギノ角ゴ Pro W3"/>
                        </a:rPr>
                        <a:t>一体型</a:t>
                      </a:r>
                      <a:endParaRPr kumimoji="1" lang="ja-JP" altLang="en-US" dirty="0">
                        <a:latin typeface="Palatino"/>
                        <a:ea typeface="ヒラギノ角ゴ Pro W3"/>
                      </a:endParaRPr>
                    </a:p>
                  </a:txBody>
                  <a:tcPr anchor="ctr" anchorCtr="1">
                    <a:lnL w="12700" cmpd="sng">
                      <a:noFill/>
                    </a:lnL>
                    <a:lnR w="38100" cap="flat" cmpd="sng" algn="ctr">
                      <a:solidFill>
                        <a:srgbClr val="00000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kumimoji="1" lang="ja-JP" altLang="en-US" dirty="0" smtClean="0">
                          <a:latin typeface="Palatino"/>
                          <a:ea typeface="ヒラギノ角ゴ Pro W3"/>
                        </a:rPr>
                        <a:t>重合メッシュ法</a:t>
                      </a:r>
                      <a:endParaRPr kumimoji="1" lang="ja-JP" altLang="en-US" dirty="0">
                        <a:latin typeface="Palatino"/>
                        <a:ea typeface="ヒラギノ角ゴ Pro W3"/>
                      </a:endParaRPr>
                    </a:p>
                  </a:txBody>
                  <a:tcPr anchor="ctr" anchorCtr="1">
                    <a:lnL w="38100" cap="flat" cmpd="sng" algn="ctr">
                      <a:solidFill>
                        <a:srgbClr val="000000"/>
                      </a:solidFill>
                      <a:prstDash val="solid"/>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crgbClr r="0" g="0" b="0"/>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r>
                        <a:rPr kumimoji="1" lang="en-US" altLang="ja-JP" dirty="0" smtClean="0">
                          <a:latin typeface="Palatino"/>
                          <a:ea typeface="ヒラギノ角ゴ Pro W3"/>
                        </a:rPr>
                        <a:t>(</a:t>
                      </a:r>
                      <a:r>
                        <a:rPr kumimoji="1" lang="ja-JP" altLang="en-US" dirty="0" smtClean="0">
                          <a:latin typeface="Palatino"/>
                          <a:ea typeface="ヒラギノ角ゴ Pro W3"/>
                        </a:rPr>
                        <a:t>通常の有限要素法</a:t>
                      </a:r>
                      <a:r>
                        <a:rPr kumimoji="1" lang="en-US" altLang="ja-JP" dirty="0" smtClean="0">
                          <a:latin typeface="Palatino"/>
                          <a:ea typeface="ヒラギノ角ゴ Pro W3"/>
                        </a:rPr>
                        <a:t>)</a:t>
                      </a:r>
                      <a:endParaRPr kumimoji="1" lang="ja-JP" altLang="en-US" dirty="0">
                        <a:latin typeface="Palatino"/>
                        <a:ea typeface="ヒラギノ角ゴ Pro W3"/>
                      </a:endParaRPr>
                    </a:p>
                  </a:txBody>
                  <a:tcPr anchor="ctr" anchorCtr="1">
                    <a:lnL w="12700" cap="flat" cmpd="sng" algn="ctr">
                      <a:solidFill>
                        <a:srgbClr val="000000"/>
                      </a:solidFill>
                      <a:prstDash val="dash"/>
                      <a:round/>
                      <a:headEnd type="none" w="med" len="med"/>
                      <a:tailEnd type="none" w="med" len="med"/>
                    </a:lnL>
                    <a:lnR w="12700" cmpd="sng">
                      <a:noFill/>
                    </a:lnR>
                    <a:lnT w="12700" cap="flat" cmpd="sng" algn="ctr">
                      <a:solidFill>
                        <a:scrgbClr r="0" g="0" b="0"/>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tr>
            </a:tbl>
          </a:graphicData>
        </a:graphic>
      </p:graphicFrame>
      <p:sp>
        <p:nvSpPr>
          <p:cNvPr id="8" name="テキスト ボックス 7"/>
          <p:cNvSpPr txBox="1"/>
          <p:nvPr/>
        </p:nvSpPr>
        <p:spPr>
          <a:xfrm>
            <a:off x="8561066" y="2870533"/>
            <a:ext cx="461665" cy="789733"/>
          </a:xfrm>
          <a:prstGeom prst="rect">
            <a:avLst/>
          </a:prstGeom>
          <a:noFill/>
        </p:spPr>
        <p:txBody>
          <a:bodyPr vert="eaVert" wrap="none" rtlCol="0">
            <a:spAutoFit/>
          </a:bodyPr>
          <a:lstStyle/>
          <a:p>
            <a:r>
              <a:rPr lang="ja-JP" altLang="en-US" dirty="0" smtClean="0">
                <a:solidFill>
                  <a:schemeClr val="accent1"/>
                </a:solidFill>
                <a:latin typeface="Palatino"/>
                <a:ea typeface="ヒラギノ角ゴ Pro W3"/>
              </a:rPr>
              <a:t>弱連成</a:t>
            </a:r>
            <a:endParaRPr kumimoji="1" lang="ja-JP" altLang="en-US" dirty="0">
              <a:solidFill>
                <a:schemeClr val="accent1"/>
              </a:solidFill>
              <a:latin typeface="Palatino"/>
              <a:ea typeface="ヒラギノ角ゴ Pro W3"/>
            </a:endParaRPr>
          </a:p>
        </p:txBody>
      </p:sp>
      <p:sp>
        <p:nvSpPr>
          <p:cNvPr id="9" name="テキスト ボックス 8"/>
          <p:cNvSpPr txBox="1"/>
          <p:nvPr/>
        </p:nvSpPr>
        <p:spPr>
          <a:xfrm>
            <a:off x="8561066" y="4644836"/>
            <a:ext cx="461665" cy="789733"/>
          </a:xfrm>
          <a:prstGeom prst="rect">
            <a:avLst/>
          </a:prstGeom>
          <a:noFill/>
        </p:spPr>
        <p:txBody>
          <a:bodyPr vert="eaVert" wrap="none" rtlCol="0">
            <a:spAutoFit/>
          </a:bodyPr>
          <a:lstStyle/>
          <a:p>
            <a:r>
              <a:rPr lang="ja-JP" altLang="en-US" dirty="0" smtClean="0">
                <a:solidFill>
                  <a:schemeClr val="accent2"/>
                </a:solidFill>
                <a:latin typeface="Palatino"/>
                <a:ea typeface="ヒラギノ角ゴ Pro W3"/>
              </a:rPr>
              <a:t>強連成</a:t>
            </a:r>
            <a:endParaRPr lang="en-US" altLang="ja-JP" dirty="0" smtClean="0">
              <a:solidFill>
                <a:schemeClr val="accent2"/>
              </a:solidFill>
              <a:latin typeface="Palatino"/>
              <a:ea typeface="ヒラギノ角ゴ Pro W3"/>
            </a:endParaRPr>
          </a:p>
        </p:txBody>
      </p:sp>
    </p:spTree>
    <p:extLst>
      <p:ext uri="{BB962C8B-B14F-4D97-AF65-F5344CB8AC3E}">
        <p14:creationId xmlns:p14="http://schemas.microsoft.com/office/powerpoint/2010/main" val="1569797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本手法</a:t>
            </a:r>
            <a:r>
              <a:rPr lang="ja-JP" altLang="en-US" dirty="0" smtClean="0"/>
              <a:t>と</a:t>
            </a:r>
            <a:r>
              <a:rPr kumimoji="1" lang="ja-JP" altLang="en-US" dirty="0" smtClean="0"/>
              <a:t>既存手法の</a:t>
            </a:r>
            <a:r>
              <a:rPr lang="ja-JP" altLang="en-US" dirty="0" smtClean="0"/>
              <a:t>違い</a:t>
            </a:r>
            <a:endParaRPr kumimoji="1" lang="ja-JP" altLang="en-US" dirty="0"/>
          </a:p>
        </p:txBody>
      </p:sp>
      <p:sp>
        <p:nvSpPr>
          <p:cNvPr id="3" name="コンテンツ プレースホルダー 2"/>
          <p:cNvSpPr>
            <a:spLocks noGrp="1"/>
          </p:cNvSpPr>
          <p:nvPr>
            <p:ph idx="1"/>
          </p:nvPr>
        </p:nvSpPr>
        <p:spPr/>
        <p:txBody>
          <a:bodyPr>
            <a:normAutofit fontScale="92500" lnSpcReduction="20000"/>
          </a:bodyPr>
          <a:lstStyle/>
          <a:p>
            <a:r>
              <a:rPr kumimoji="1" lang="ja-JP" altLang="en-US" dirty="0" smtClean="0"/>
              <a:t>ズーミング法</a:t>
            </a:r>
            <a:endParaRPr kumimoji="1" lang="en-US" altLang="ja-JP" dirty="0" smtClean="0"/>
          </a:p>
          <a:p>
            <a:pPr lvl="1"/>
            <a:r>
              <a:rPr lang="ja-JP" altLang="en-US" dirty="0" smtClean="0"/>
              <a:t>精度</a:t>
            </a:r>
            <a:r>
              <a:rPr lang="en-US" altLang="ja-JP" dirty="0" smtClean="0"/>
              <a:t>△ …… </a:t>
            </a:r>
            <a:r>
              <a:rPr lang="ja-JP" altLang="en-US" dirty="0" smtClean="0"/>
              <a:t>経験に依存</a:t>
            </a:r>
            <a:endParaRPr lang="en-US" altLang="ja-JP" dirty="0" smtClean="0"/>
          </a:p>
          <a:p>
            <a:pPr lvl="1"/>
            <a:r>
              <a:rPr kumimoji="1" lang="ja-JP" altLang="en-US" dirty="0" smtClean="0"/>
              <a:t>計算時間</a:t>
            </a:r>
            <a:r>
              <a:rPr kumimoji="1" lang="en-US" altLang="ja-JP" dirty="0" smtClean="0"/>
              <a:t>◎</a:t>
            </a:r>
          </a:p>
          <a:p>
            <a:endParaRPr lang="en-US" altLang="ja-JP" dirty="0"/>
          </a:p>
          <a:p>
            <a:r>
              <a:rPr kumimoji="1" lang="ja-JP" altLang="en-US" dirty="0" smtClean="0"/>
              <a:t>重合メッシュ法</a:t>
            </a:r>
            <a:endParaRPr kumimoji="1" lang="en-US" altLang="ja-JP" dirty="0" smtClean="0"/>
          </a:p>
          <a:p>
            <a:pPr lvl="1"/>
            <a:r>
              <a:rPr lang="ja-JP" altLang="en-US" dirty="0" smtClean="0"/>
              <a:t>精度</a:t>
            </a:r>
            <a:r>
              <a:rPr lang="en-US" altLang="ja-JP" dirty="0" smtClean="0"/>
              <a:t>○</a:t>
            </a:r>
          </a:p>
          <a:p>
            <a:pPr lvl="1"/>
            <a:r>
              <a:rPr kumimoji="1" lang="ja-JP" altLang="en-US" dirty="0" smtClean="0"/>
              <a:t>計算時間</a:t>
            </a:r>
            <a:r>
              <a:rPr lang="en-US" altLang="ja-JP" dirty="0" smtClean="0"/>
              <a:t>△</a:t>
            </a:r>
            <a:r>
              <a:rPr kumimoji="1" lang="en-US" altLang="ja-JP" dirty="0" smtClean="0"/>
              <a:t> …… </a:t>
            </a:r>
            <a:r>
              <a:rPr kumimoji="1" lang="ja-JP" altLang="en-US" dirty="0" smtClean="0"/>
              <a:t>ただし、剛性行列が悪条件なので大規模化困難</a:t>
            </a:r>
            <a:endParaRPr kumimoji="1" lang="en-US" altLang="ja-JP" dirty="0" smtClean="0"/>
          </a:p>
          <a:p>
            <a:endParaRPr lang="en-US" altLang="ja-JP" dirty="0"/>
          </a:p>
          <a:p>
            <a:r>
              <a:rPr kumimoji="1" lang="ja-JP" altLang="en-US" dirty="0" smtClean="0"/>
              <a:t>通常の有限要素法による詳細解析</a:t>
            </a:r>
            <a:endParaRPr kumimoji="1" lang="en-US" altLang="ja-JP" dirty="0" smtClean="0"/>
          </a:p>
          <a:p>
            <a:pPr lvl="1"/>
            <a:r>
              <a:rPr lang="ja-JP" altLang="en-US" dirty="0" smtClean="0"/>
              <a:t>精度</a:t>
            </a:r>
            <a:r>
              <a:rPr lang="en-US" altLang="ja-JP" dirty="0" smtClean="0"/>
              <a:t>○</a:t>
            </a:r>
          </a:p>
          <a:p>
            <a:pPr lvl="1"/>
            <a:r>
              <a:rPr kumimoji="1" lang="ja-JP" altLang="en-US" dirty="0" smtClean="0"/>
              <a:t>計算時間</a:t>
            </a:r>
            <a:r>
              <a:rPr lang="en-US" altLang="ja-JP" dirty="0" smtClean="0"/>
              <a:t>△</a:t>
            </a:r>
            <a:endParaRPr kumimoji="1" lang="en-US" altLang="ja-JP" dirty="0" smtClean="0"/>
          </a:p>
          <a:p>
            <a:endParaRPr lang="en-US" altLang="ja-JP" dirty="0"/>
          </a:p>
          <a:p>
            <a:r>
              <a:rPr kumimoji="1" lang="ja-JP" altLang="en-US" dirty="0" smtClean="0">
                <a:solidFill>
                  <a:srgbClr val="D2533C"/>
                </a:solidFill>
              </a:rPr>
              <a:t>分離反復連成解法</a:t>
            </a:r>
            <a:endParaRPr kumimoji="1" lang="en-US" altLang="ja-JP" dirty="0" smtClean="0">
              <a:solidFill>
                <a:srgbClr val="D2533C"/>
              </a:solidFill>
            </a:endParaRPr>
          </a:p>
          <a:p>
            <a:pPr lvl="1"/>
            <a:r>
              <a:rPr lang="ja-JP" altLang="en-US" dirty="0" smtClean="0">
                <a:solidFill>
                  <a:srgbClr val="D2533C"/>
                </a:solidFill>
              </a:rPr>
              <a:t>精度</a:t>
            </a:r>
            <a:r>
              <a:rPr lang="en-US" altLang="ja-JP" dirty="0" smtClean="0">
                <a:solidFill>
                  <a:srgbClr val="D2533C"/>
                </a:solidFill>
              </a:rPr>
              <a:t>○ …… </a:t>
            </a:r>
            <a:r>
              <a:rPr lang="ja-JP" altLang="en-US" dirty="0" smtClean="0">
                <a:solidFill>
                  <a:srgbClr val="D2533C"/>
                </a:solidFill>
              </a:rPr>
              <a:t>ズーミング法よりも高精度</a:t>
            </a:r>
            <a:endParaRPr lang="en-US" altLang="ja-JP" dirty="0" smtClean="0">
              <a:solidFill>
                <a:srgbClr val="D2533C"/>
              </a:solidFill>
            </a:endParaRPr>
          </a:p>
          <a:p>
            <a:pPr lvl="1"/>
            <a:r>
              <a:rPr kumimoji="1" lang="ja-JP" altLang="en-US" dirty="0" smtClean="0">
                <a:solidFill>
                  <a:srgbClr val="D2533C"/>
                </a:solidFill>
              </a:rPr>
              <a:t>計算時間</a:t>
            </a:r>
            <a:r>
              <a:rPr lang="en-US" altLang="ja-JP" dirty="0" smtClean="0">
                <a:solidFill>
                  <a:srgbClr val="D2533C"/>
                </a:solidFill>
              </a:rPr>
              <a:t>○ …… </a:t>
            </a:r>
            <a:r>
              <a:rPr lang="ja-JP" altLang="en-US" dirty="0" smtClean="0">
                <a:solidFill>
                  <a:srgbClr val="D2533C"/>
                </a:solidFill>
              </a:rPr>
              <a:t>通常の有限要素法よりも高速、かつ大規模化容易</a:t>
            </a:r>
            <a:endParaRPr kumimoji="1" lang="ja-JP" altLang="en-US" dirty="0">
              <a:solidFill>
                <a:srgbClr val="D2533C"/>
              </a:solidFill>
            </a:endParaRPr>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10</a:t>
            </a:fld>
            <a:endParaRPr lang="en-US"/>
          </a:p>
        </p:txBody>
      </p:sp>
    </p:spTree>
    <p:extLst>
      <p:ext uri="{BB962C8B-B14F-4D97-AF65-F5344CB8AC3E}">
        <p14:creationId xmlns:p14="http://schemas.microsoft.com/office/powerpoint/2010/main" val="2413528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en-US" altLang="ja-JP" dirty="0" smtClean="0"/>
              <a:t>Aitken </a:t>
            </a:r>
            <a:r>
              <a:rPr kumimoji="1" lang="ja-JP" altLang="en-US" dirty="0" smtClean="0"/>
              <a:t>補外による動的緩和付きブロック</a:t>
            </a:r>
            <a:r>
              <a:rPr kumimoji="1" lang="en-US" altLang="ja-JP" dirty="0" smtClean="0"/>
              <a:t> Gauss–Seidel </a:t>
            </a:r>
            <a:r>
              <a:rPr kumimoji="1" lang="ja-JP" altLang="en-US" dirty="0" smtClean="0"/>
              <a:t>法のアルゴリズム</a:t>
            </a:r>
            <a:endParaRPr kumimoji="1" lang="ja-JP" altLang="en-US" dirty="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11</a:t>
            </a:fld>
            <a:endParaRPr lang="en-US"/>
          </a:p>
        </p:txBody>
      </p:sp>
      <p:graphicFrame>
        <p:nvGraphicFramePr>
          <p:cNvPr id="9" name="オブジェクト 8"/>
          <p:cNvGraphicFramePr>
            <a:graphicFrameLocks noChangeAspect="1"/>
          </p:cNvGraphicFramePr>
          <p:nvPr>
            <p:extLst>
              <p:ext uri="{D42A27DB-BD31-4B8C-83A1-F6EECF244321}">
                <p14:modId xmlns:p14="http://schemas.microsoft.com/office/powerpoint/2010/main" val="2638171016"/>
              </p:ext>
            </p:extLst>
          </p:nvPr>
        </p:nvGraphicFramePr>
        <p:xfrm>
          <a:off x="4793360" y="1692275"/>
          <a:ext cx="3893440" cy="5165725"/>
        </p:xfrm>
        <a:graphic>
          <a:graphicData uri="http://schemas.openxmlformats.org/presentationml/2006/ole">
            <mc:AlternateContent xmlns:mc="http://schemas.openxmlformats.org/markup-compatibility/2006">
              <mc:Choice xmlns:v="urn:schemas-microsoft-com:vml" Requires="v">
                <p:oleObj spid="_x0000_s3555" name="数式" r:id="rId3" imgW="2247900" imgH="2984500" progId="Equation.3">
                  <p:embed/>
                </p:oleObj>
              </mc:Choice>
              <mc:Fallback>
                <p:oleObj name="数式" r:id="rId3" imgW="2247900" imgH="2984500" progId="Equation.3">
                  <p:embed/>
                  <p:pic>
                    <p:nvPicPr>
                      <p:cNvPr id="0" name=""/>
                      <p:cNvPicPr/>
                      <p:nvPr/>
                    </p:nvPicPr>
                    <p:blipFill>
                      <a:blip r:embed="rId4"/>
                      <a:stretch>
                        <a:fillRect/>
                      </a:stretch>
                    </p:blipFill>
                    <p:spPr>
                      <a:xfrm>
                        <a:off x="4793360" y="1692275"/>
                        <a:ext cx="3893440" cy="5165725"/>
                      </a:xfrm>
                      <a:prstGeom prst="rect">
                        <a:avLst/>
                      </a:prstGeom>
                    </p:spPr>
                  </p:pic>
                </p:oleObj>
              </mc:Fallback>
            </mc:AlternateContent>
          </a:graphicData>
        </a:graphic>
      </p:graphicFrame>
      <p:pic>
        <p:nvPicPr>
          <p:cNvPr id="10" name="図 9" descr="partitioned_iterative.eps"/>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1360" y="1883541"/>
            <a:ext cx="4394200" cy="4533900"/>
          </a:xfrm>
          <a:prstGeom prst="rect">
            <a:avLst/>
          </a:prstGeom>
        </p:spPr>
      </p:pic>
      <p:sp>
        <p:nvSpPr>
          <p:cNvPr id="8" name="角丸四角形吹き出し 7"/>
          <p:cNvSpPr/>
          <p:nvPr/>
        </p:nvSpPr>
        <p:spPr>
          <a:xfrm>
            <a:off x="7297907" y="3035910"/>
            <a:ext cx="1846093" cy="440870"/>
          </a:xfrm>
          <a:prstGeom prst="wedgeRoundRectCallout">
            <a:avLst>
              <a:gd name="adj1" fmla="val -70368"/>
              <a:gd name="adj2" fmla="val -604"/>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dirty="0" smtClean="0">
                <a:latin typeface="Palatino"/>
                <a:ea typeface="ヒラギノ角ゴ Pro W3"/>
              </a:rPr>
              <a:t>ロー</a:t>
            </a:r>
            <a:r>
              <a:rPr kumimoji="1" lang="ja-JP" altLang="en-US" dirty="0" smtClean="0">
                <a:latin typeface="Palatino"/>
                <a:ea typeface="ヒラギノ角ゴ Pro W3"/>
              </a:rPr>
              <a:t>カ</a:t>
            </a:r>
            <a:r>
              <a:rPr kumimoji="1" lang="ja-JP" altLang="en-US" dirty="0" smtClean="0">
                <a:latin typeface="Palatino"/>
                <a:ea typeface="ヒラギノ角ゴ Pro W3"/>
              </a:rPr>
              <a:t>ル</a:t>
            </a:r>
            <a:r>
              <a:rPr kumimoji="1" lang="ja-JP" altLang="en-US" dirty="0" smtClean="0">
                <a:latin typeface="Palatino"/>
                <a:ea typeface="ヒラギノ角ゴ Pro W3"/>
              </a:rPr>
              <a:t>解析</a:t>
            </a:r>
            <a:endParaRPr kumimoji="1" lang="ja-JP" altLang="en-US" dirty="0">
              <a:latin typeface="Palatino"/>
              <a:ea typeface="ヒラギノ角ゴ Pro W3"/>
            </a:endParaRPr>
          </a:p>
        </p:txBody>
      </p:sp>
      <p:sp>
        <p:nvSpPr>
          <p:cNvPr id="11" name="角丸四角形吹き出し 10"/>
          <p:cNvSpPr/>
          <p:nvPr/>
        </p:nvSpPr>
        <p:spPr>
          <a:xfrm>
            <a:off x="7297907" y="3638860"/>
            <a:ext cx="1846093" cy="440870"/>
          </a:xfrm>
          <a:prstGeom prst="wedgeRoundRectCallout">
            <a:avLst>
              <a:gd name="adj1" fmla="val -63488"/>
              <a:gd name="adj2" fmla="val -6365"/>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dirty="0" smtClean="0">
                <a:latin typeface="Palatino"/>
                <a:ea typeface="ヒラギノ角ゴ Pro W3"/>
              </a:rPr>
              <a:t>グ</a:t>
            </a:r>
            <a:r>
              <a:rPr kumimoji="1" lang="ja-JP" altLang="en-US" dirty="0" smtClean="0">
                <a:latin typeface="Palatino"/>
                <a:ea typeface="ヒラギノ角ゴ Pro W3"/>
              </a:rPr>
              <a:t>ロー</a:t>
            </a:r>
            <a:r>
              <a:rPr kumimoji="1" lang="ja-JP" altLang="en-US" dirty="0" smtClean="0">
                <a:latin typeface="Palatino"/>
                <a:ea typeface="ヒラギノ角ゴ Pro W3"/>
              </a:rPr>
              <a:t>バ</a:t>
            </a:r>
            <a:r>
              <a:rPr kumimoji="1" lang="ja-JP" altLang="en-US" dirty="0" smtClean="0">
                <a:latin typeface="Palatino"/>
                <a:ea typeface="ヒラギノ角ゴ Pro W3"/>
              </a:rPr>
              <a:t>ル</a:t>
            </a:r>
            <a:r>
              <a:rPr kumimoji="1" lang="ja-JP" altLang="en-US" dirty="0" smtClean="0">
                <a:latin typeface="Palatino"/>
                <a:ea typeface="ヒラギノ角ゴ Pro W3"/>
              </a:rPr>
              <a:t>解析</a:t>
            </a:r>
            <a:endParaRPr kumimoji="1" lang="ja-JP" altLang="en-US" dirty="0">
              <a:latin typeface="Palatino"/>
              <a:ea typeface="ヒラギノ角ゴ Pro W3"/>
            </a:endParaRPr>
          </a:p>
        </p:txBody>
      </p:sp>
    </p:spTree>
    <p:extLst>
      <p:ext uri="{BB962C8B-B14F-4D97-AF65-F5344CB8AC3E}">
        <p14:creationId xmlns:p14="http://schemas.microsoft.com/office/powerpoint/2010/main" val="2610765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descr="mesh.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6095" y="1524000"/>
            <a:ext cx="5067905" cy="5067905"/>
          </a:xfrm>
          <a:prstGeom prst="rect">
            <a:avLst/>
          </a:prstGeom>
        </p:spPr>
      </p:pic>
      <p:sp>
        <p:nvSpPr>
          <p:cNvPr id="2" name="タイトル 1"/>
          <p:cNvSpPr>
            <a:spLocks noGrp="1"/>
          </p:cNvSpPr>
          <p:nvPr>
            <p:ph type="title"/>
          </p:nvPr>
        </p:nvSpPr>
        <p:spPr/>
        <p:txBody>
          <a:bodyPr>
            <a:normAutofit/>
          </a:bodyPr>
          <a:lstStyle/>
          <a:p>
            <a:r>
              <a:rPr kumimoji="1" lang="en-US" altLang="ja-JP" dirty="0" smtClean="0"/>
              <a:t>196 </a:t>
            </a:r>
            <a:r>
              <a:rPr kumimoji="1" lang="ja-JP" altLang="en-US" dirty="0" smtClean="0"/>
              <a:t>万自由度の疲労き裂進展解析</a:t>
            </a:r>
            <a:endParaRPr kumimoji="1" lang="ja-JP" altLang="en-US" dirty="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12</a:t>
            </a:fld>
            <a:endParaRPr lang="en-US"/>
          </a:p>
        </p:txBody>
      </p:sp>
      <p:pic>
        <p:nvPicPr>
          <p:cNvPr id="7" name="図 6" descr="ect.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24000"/>
            <a:ext cx="3522133" cy="5108680"/>
          </a:xfrm>
          <a:prstGeom prst="rect">
            <a:avLst/>
          </a:prstGeom>
        </p:spPr>
      </p:pic>
      <p:sp>
        <p:nvSpPr>
          <p:cNvPr id="10" name="角丸四角形吹き出し 9"/>
          <p:cNvSpPr/>
          <p:nvPr/>
        </p:nvSpPr>
        <p:spPr>
          <a:xfrm>
            <a:off x="3429000" y="2476804"/>
            <a:ext cx="1846093" cy="440870"/>
          </a:xfrm>
          <a:prstGeom prst="wedgeRoundRectCallout">
            <a:avLst>
              <a:gd name="adj1" fmla="val 64468"/>
              <a:gd name="adj2" fmla="val 54129"/>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dirty="0" smtClean="0">
                <a:latin typeface="Palatino"/>
                <a:ea typeface="ヒラギノ角ゴ Pro W3"/>
              </a:rPr>
              <a:t>四面体二次要素</a:t>
            </a:r>
            <a:endParaRPr kumimoji="1" lang="ja-JP" altLang="en-US" dirty="0">
              <a:latin typeface="Palatino"/>
              <a:ea typeface="ヒラギノ角ゴ Pro W3"/>
            </a:endParaRPr>
          </a:p>
        </p:txBody>
      </p:sp>
      <p:sp>
        <p:nvSpPr>
          <p:cNvPr id="11" name="角丸四角形吹き出し 10"/>
          <p:cNvSpPr/>
          <p:nvPr/>
        </p:nvSpPr>
        <p:spPr>
          <a:xfrm>
            <a:off x="3429000" y="3670910"/>
            <a:ext cx="1846093" cy="440870"/>
          </a:xfrm>
          <a:prstGeom prst="wedgeRoundRectCallout">
            <a:avLst>
              <a:gd name="adj1" fmla="val 64468"/>
              <a:gd name="adj2" fmla="val 54129"/>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smtClean="0">
                <a:latin typeface="Palatino"/>
                <a:ea typeface="ヒラギノ角ゴ Pro W3"/>
              </a:rPr>
              <a:t>174 </a:t>
            </a:r>
            <a:r>
              <a:rPr lang="ja-JP" altLang="en-US" dirty="0" smtClean="0">
                <a:latin typeface="Palatino"/>
                <a:ea typeface="ヒラギノ角ゴ Pro W3"/>
              </a:rPr>
              <a:t>万自由度</a:t>
            </a:r>
            <a:endParaRPr kumimoji="1" lang="ja-JP" altLang="en-US" dirty="0">
              <a:latin typeface="Palatino"/>
              <a:ea typeface="ヒラギノ角ゴ Pro W3"/>
            </a:endParaRPr>
          </a:p>
        </p:txBody>
      </p:sp>
      <p:sp>
        <p:nvSpPr>
          <p:cNvPr id="12" name="角丸四角形吹き出し 11"/>
          <p:cNvSpPr/>
          <p:nvPr/>
        </p:nvSpPr>
        <p:spPr>
          <a:xfrm>
            <a:off x="2779845" y="6367717"/>
            <a:ext cx="2419048" cy="440870"/>
          </a:xfrm>
          <a:prstGeom prst="wedgeRoundRectCallout">
            <a:avLst>
              <a:gd name="adj1" fmla="val 37571"/>
              <a:gd name="adj2" fmla="val -91275"/>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en-US" dirty="0" smtClean="0">
                <a:latin typeface="Palatino"/>
                <a:ea typeface="ヒラギノ角ゴ Pro W3"/>
              </a:rPr>
              <a:t>き裂進展 41 </a:t>
            </a:r>
            <a:r>
              <a:rPr lang="ja-JP" altLang="en-US" dirty="0" smtClean="0">
                <a:latin typeface="Palatino"/>
                <a:ea typeface="ヒラギノ角ゴ Pro W3"/>
              </a:rPr>
              <a:t>ステップ</a:t>
            </a:r>
            <a:endParaRPr kumimoji="1" lang="ja-JP" altLang="en-US" dirty="0">
              <a:latin typeface="Palatino"/>
              <a:ea typeface="ヒラギノ角ゴ Pro W3"/>
            </a:endParaRPr>
          </a:p>
        </p:txBody>
      </p:sp>
      <p:sp>
        <p:nvSpPr>
          <p:cNvPr id="13" name="角丸四角形吹き出し 12"/>
          <p:cNvSpPr/>
          <p:nvPr/>
        </p:nvSpPr>
        <p:spPr>
          <a:xfrm>
            <a:off x="3429000" y="4244828"/>
            <a:ext cx="1846093" cy="440870"/>
          </a:xfrm>
          <a:prstGeom prst="wedgeRoundRectCallout">
            <a:avLst>
              <a:gd name="adj1" fmla="val -1083"/>
              <a:gd name="adj2" fmla="val 255914"/>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smtClean="0">
                <a:latin typeface="Palatino"/>
                <a:ea typeface="ヒラギノ角ゴ Pro W3"/>
              </a:rPr>
              <a:t>22 </a:t>
            </a:r>
            <a:r>
              <a:rPr lang="ja-JP" altLang="en-US" dirty="0" smtClean="0">
                <a:latin typeface="Palatino"/>
                <a:ea typeface="ヒラギノ角ゴ Pro W3"/>
              </a:rPr>
              <a:t>万自由度</a:t>
            </a:r>
            <a:endParaRPr kumimoji="1" lang="ja-JP" altLang="en-US" dirty="0">
              <a:latin typeface="Palatino"/>
              <a:ea typeface="ヒラギノ角ゴ Pro W3"/>
            </a:endParaRPr>
          </a:p>
        </p:txBody>
      </p:sp>
      <p:sp>
        <p:nvSpPr>
          <p:cNvPr id="14" name="角丸四角形吹き出し 13"/>
          <p:cNvSpPr/>
          <p:nvPr/>
        </p:nvSpPr>
        <p:spPr>
          <a:xfrm>
            <a:off x="3429000" y="1892604"/>
            <a:ext cx="1846093" cy="440870"/>
          </a:xfrm>
          <a:prstGeom prst="wedgeRoundRectCallout">
            <a:avLst>
              <a:gd name="adj1" fmla="val 64468"/>
              <a:gd name="adj2" fmla="val 54129"/>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en-US" altLang="ja-JP" dirty="0" smtClean="0">
                <a:latin typeface="Palatino"/>
                <a:ea typeface="ヒラギノ角ゴ Pro W3"/>
              </a:rPr>
              <a:t>4 </a:t>
            </a:r>
            <a:r>
              <a:rPr kumimoji="1" lang="ja-JP" altLang="en-US" dirty="0" smtClean="0">
                <a:latin typeface="Palatino"/>
                <a:ea typeface="ヒラギノ角ゴ Pro W3"/>
              </a:rPr>
              <a:t>分の</a:t>
            </a:r>
            <a:r>
              <a:rPr kumimoji="1" lang="en-US" altLang="ja-JP" dirty="0" smtClean="0">
                <a:latin typeface="Palatino"/>
                <a:ea typeface="ヒラギノ角ゴ Pro W3"/>
              </a:rPr>
              <a:t> 1 </a:t>
            </a:r>
            <a:r>
              <a:rPr kumimoji="1" lang="ja-JP" altLang="en-US" dirty="0" smtClean="0">
                <a:latin typeface="Palatino"/>
                <a:ea typeface="ヒラギノ角ゴ Pro W3"/>
              </a:rPr>
              <a:t>モデル</a:t>
            </a:r>
            <a:endParaRPr kumimoji="1" lang="ja-JP" altLang="en-US" dirty="0">
              <a:latin typeface="Palatino"/>
              <a:ea typeface="ヒラギノ角ゴ Pro W3"/>
            </a:endParaRPr>
          </a:p>
        </p:txBody>
      </p:sp>
    </p:spTree>
    <p:extLst>
      <p:ext uri="{BB962C8B-B14F-4D97-AF65-F5344CB8AC3E}">
        <p14:creationId xmlns:p14="http://schemas.microsoft.com/office/powerpoint/2010/main" val="804674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最初のき裂進展ステップの計算結果</a:t>
            </a:r>
            <a:endParaRPr kumimoji="1" lang="ja-JP" altLang="en-US" dirty="0"/>
          </a:p>
        </p:txBody>
      </p:sp>
      <p:sp>
        <p:nvSpPr>
          <p:cNvPr id="3" name="日付プレースホルダー 2"/>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4" name="フッター プレースホルダー 3"/>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5" name="スライド番号プレースホルダー 4"/>
          <p:cNvSpPr>
            <a:spLocks noGrp="1"/>
          </p:cNvSpPr>
          <p:nvPr>
            <p:ph type="sldNum" sz="quarter" idx="12"/>
          </p:nvPr>
        </p:nvSpPr>
        <p:spPr/>
        <p:txBody>
          <a:bodyPr/>
          <a:lstStyle/>
          <a:p>
            <a:fld id="{0CFEC368-1D7A-4F81-ABF6-AE0E36BAF64C}" type="slidenum">
              <a:rPr lang="en-US" smtClean="0"/>
              <a:pPr/>
              <a:t>13</a:t>
            </a:fld>
            <a:endParaRPr lang="en-US"/>
          </a:p>
        </p:txBody>
      </p:sp>
      <p:pic>
        <p:nvPicPr>
          <p:cNvPr id="6" name="図 5" descr="resul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2133" y="1524000"/>
            <a:ext cx="5300133" cy="5300133"/>
          </a:xfrm>
          <a:prstGeom prst="rect">
            <a:avLst/>
          </a:prstGeom>
        </p:spPr>
      </p:pic>
      <p:pic>
        <p:nvPicPr>
          <p:cNvPr id="7" name="図 6" descr="ect.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24000"/>
            <a:ext cx="3522133" cy="5108680"/>
          </a:xfrm>
          <a:prstGeom prst="rect">
            <a:avLst/>
          </a:prstGeom>
        </p:spPr>
      </p:pic>
    </p:spTree>
    <p:extLst>
      <p:ext uri="{BB962C8B-B14F-4D97-AF65-F5344CB8AC3E}">
        <p14:creationId xmlns:p14="http://schemas.microsoft.com/office/powerpoint/2010/main" val="3951421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分離反復連成解法の反復特性</a:t>
            </a:r>
            <a:endParaRPr kumimoji="1" lang="ja-JP" altLang="en-US" dirty="0"/>
          </a:p>
        </p:txBody>
      </p:sp>
      <p:sp>
        <p:nvSpPr>
          <p:cNvPr id="3" name="コンテンツ プレースホルダー 2"/>
          <p:cNvSpPr>
            <a:spLocks noGrp="1"/>
          </p:cNvSpPr>
          <p:nvPr>
            <p:ph idx="1"/>
          </p:nvPr>
        </p:nvSpPr>
        <p:spPr>
          <a:xfrm>
            <a:off x="4378476" y="4737102"/>
            <a:ext cx="4308323" cy="1739898"/>
          </a:xfrm>
        </p:spPr>
        <p:txBody>
          <a:bodyPr/>
          <a:lstStyle/>
          <a:p>
            <a:r>
              <a:rPr kumimoji="1" lang="ja-JP" altLang="en-US" dirty="0" smtClean="0"/>
              <a:t>き裂長に関わらず概ね同じ反復回数で収束した。</a:t>
            </a:r>
            <a:endParaRPr kumimoji="1" lang="en-US" altLang="ja-JP" dirty="0" smtClean="0"/>
          </a:p>
          <a:p>
            <a:r>
              <a:rPr lang="ja-JP" altLang="en-US" dirty="0" smtClean="0"/>
              <a:t>反復回数は平均</a:t>
            </a:r>
            <a:r>
              <a:rPr lang="en-US" altLang="ja-JP" dirty="0" smtClean="0"/>
              <a:t> 15.8 </a:t>
            </a:r>
            <a:r>
              <a:rPr lang="ja-JP" altLang="en-US" dirty="0" smtClean="0"/>
              <a:t>であった。</a:t>
            </a:r>
            <a:endParaRPr kumimoji="1" lang="en-US" altLang="ja-JP" dirty="0" smtClean="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14</a:t>
            </a:fld>
            <a:endParaRPr lang="en-US"/>
          </a:p>
        </p:txBody>
      </p:sp>
      <p:pic>
        <p:nvPicPr>
          <p:cNvPr id="12" name="図 11" descr="ect_3d_residual.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199" y="1523999"/>
            <a:ext cx="3632547" cy="2612571"/>
          </a:xfrm>
          <a:prstGeom prst="rect">
            <a:avLst/>
          </a:prstGeom>
        </p:spPr>
      </p:pic>
      <p:pic>
        <p:nvPicPr>
          <p:cNvPr id="13" name="図 12" descr="ect_3d_residual2.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4136570"/>
            <a:ext cx="3633377" cy="2575112"/>
          </a:xfrm>
          <a:prstGeom prst="rect">
            <a:avLst/>
          </a:prstGeom>
        </p:spPr>
      </p:pic>
      <p:pic>
        <p:nvPicPr>
          <p:cNvPr id="7" name="図 6" descr="ect_3d_num_iter.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37902" y="1523998"/>
            <a:ext cx="4445526" cy="3213103"/>
          </a:xfrm>
          <a:prstGeom prst="rect">
            <a:avLst/>
          </a:prstGeom>
        </p:spPr>
      </p:pic>
    </p:spTree>
    <p:extLst>
      <p:ext uri="{BB962C8B-B14F-4D97-AF65-F5344CB8AC3E}">
        <p14:creationId xmlns:p14="http://schemas.microsoft.com/office/powerpoint/2010/main" val="3438929202"/>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ect_3d_sif_thickness.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1523999"/>
            <a:ext cx="7616935" cy="5225144"/>
          </a:xfrm>
          <a:prstGeom prst="rect">
            <a:avLst/>
          </a:prstGeom>
        </p:spPr>
      </p:pic>
      <p:sp>
        <p:nvSpPr>
          <p:cNvPr id="2" name="タイトル 1"/>
          <p:cNvSpPr>
            <a:spLocks noGrp="1"/>
          </p:cNvSpPr>
          <p:nvPr>
            <p:ph type="title"/>
          </p:nvPr>
        </p:nvSpPr>
        <p:spPr/>
        <p:txBody>
          <a:bodyPr/>
          <a:lstStyle/>
          <a:p>
            <a:r>
              <a:rPr kumimoji="1" lang="ja-JP" altLang="en-US" dirty="0" smtClean="0"/>
              <a:t>応力拡大係数による精度比較</a:t>
            </a:r>
            <a:r>
              <a:rPr kumimoji="1" lang="en-US" altLang="ja-JP" dirty="0" smtClean="0"/>
              <a:t> (1/2)</a:t>
            </a:r>
            <a:endParaRPr kumimoji="1" lang="ja-JP" altLang="en-US" dirty="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15</a:t>
            </a:fld>
            <a:endParaRPr lang="en-US"/>
          </a:p>
        </p:txBody>
      </p:sp>
      <p:sp>
        <p:nvSpPr>
          <p:cNvPr id="11" name="角丸四角形吹き出し 10"/>
          <p:cNvSpPr/>
          <p:nvPr/>
        </p:nvSpPr>
        <p:spPr>
          <a:xfrm>
            <a:off x="2721429" y="2987521"/>
            <a:ext cx="4188890" cy="1625823"/>
          </a:xfrm>
          <a:prstGeom prst="wedgeRoundRectCallout">
            <a:avLst>
              <a:gd name="adj1" fmla="val 14804"/>
              <a:gd name="adj2" fmla="val 74959"/>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latin typeface="Palatino"/>
              <a:ea typeface="ヒラギノ角ゴ Pro W3"/>
            </a:endParaRPr>
          </a:p>
        </p:txBody>
      </p:sp>
      <p:graphicFrame>
        <p:nvGraphicFramePr>
          <p:cNvPr id="8" name="オブジェクト 7"/>
          <p:cNvGraphicFramePr>
            <a:graphicFrameLocks noChangeAspect="1"/>
          </p:cNvGraphicFramePr>
          <p:nvPr>
            <p:extLst>
              <p:ext uri="{D42A27DB-BD31-4B8C-83A1-F6EECF244321}">
                <p14:modId xmlns:p14="http://schemas.microsoft.com/office/powerpoint/2010/main" val="3670996731"/>
              </p:ext>
            </p:extLst>
          </p:nvPr>
        </p:nvGraphicFramePr>
        <p:xfrm>
          <a:off x="2842380" y="3120568"/>
          <a:ext cx="3934892" cy="1371824"/>
        </p:xfrm>
        <a:graphic>
          <a:graphicData uri="http://schemas.openxmlformats.org/presentationml/2006/ole">
            <mc:AlternateContent xmlns:mc="http://schemas.openxmlformats.org/markup-compatibility/2006">
              <mc:Choice xmlns:v="urn:schemas-microsoft-com:vml" Requires="v">
                <p:oleObj spid="_x0000_s1532" name="数式" r:id="rId5" imgW="2730500" imgH="952500" progId="Equation.3">
                  <p:embed/>
                </p:oleObj>
              </mc:Choice>
              <mc:Fallback>
                <p:oleObj name="数式" r:id="rId5" imgW="2730500" imgH="952500" progId="Equation.3">
                  <p:embed/>
                  <p:pic>
                    <p:nvPicPr>
                      <p:cNvPr id="0" name=""/>
                      <p:cNvPicPr/>
                      <p:nvPr/>
                    </p:nvPicPr>
                    <p:blipFill>
                      <a:blip r:embed="rId6"/>
                      <a:stretch>
                        <a:fillRect/>
                      </a:stretch>
                    </p:blipFill>
                    <p:spPr>
                      <a:xfrm>
                        <a:off x="2842380" y="3120568"/>
                        <a:ext cx="3934892" cy="1371824"/>
                      </a:xfrm>
                      <a:prstGeom prst="rect">
                        <a:avLst/>
                      </a:prstGeom>
                    </p:spPr>
                  </p:pic>
                </p:oleObj>
              </mc:Fallback>
            </mc:AlternateContent>
          </a:graphicData>
        </a:graphic>
      </p:graphicFrame>
      <p:sp>
        <p:nvSpPr>
          <p:cNvPr id="9" name="角丸四角形吹き出し 8"/>
          <p:cNvSpPr/>
          <p:nvPr/>
        </p:nvSpPr>
        <p:spPr>
          <a:xfrm>
            <a:off x="114300" y="1303565"/>
            <a:ext cx="1846093" cy="440870"/>
          </a:xfrm>
          <a:prstGeom prst="wedgeRoundRectCallout">
            <a:avLst>
              <a:gd name="adj1" fmla="val 26631"/>
              <a:gd name="adj2" fmla="val -61098"/>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dirty="0" smtClean="0">
                <a:latin typeface="Palatino"/>
                <a:ea typeface="ヒラギノ角ゴ Pro W3"/>
              </a:rPr>
              <a:t>直接変位外挿法</a:t>
            </a:r>
            <a:endParaRPr kumimoji="1" lang="ja-JP" altLang="en-US" dirty="0">
              <a:latin typeface="Palatino"/>
              <a:ea typeface="ヒラギノ角ゴ Pro W3"/>
            </a:endParaRPr>
          </a:p>
        </p:txBody>
      </p:sp>
    </p:spTree>
    <p:extLst>
      <p:ext uri="{BB962C8B-B14F-4D97-AF65-F5344CB8AC3E}">
        <p14:creationId xmlns:p14="http://schemas.microsoft.com/office/powerpoint/2010/main" val="1813571871"/>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応力拡大係数による精度比較</a:t>
            </a:r>
            <a:r>
              <a:rPr lang="en-US" altLang="ja-JP" dirty="0" smtClean="0"/>
              <a:t> (2/2)</a:t>
            </a:r>
            <a:endParaRPr kumimoji="1" lang="ja-JP" altLang="en-US" dirty="0"/>
          </a:p>
        </p:txBody>
      </p:sp>
      <p:sp>
        <p:nvSpPr>
          <p:cNvPr id="3" name="日付プレースホルダー 2"/>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4" name="フッター プレースホルダー 3"/>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5" name="スライド番号プレースホルダー 4"/>
          <p:cNvSpPr>
            <a:spLocks noGrp="1"/>
          </p:cNvSpPr>
          <p:nvPr>
            <p:ph type="sldNum" sz="quarter" idx="12"/>
          </p:nvPr>
        </p:nvSpPr>
        <p:spPr/>
        <p:txBody>
          <a:bodyPr/>
          <a:lstStyle/>
          <a:p>
            <a:fld id="{0CFEC368-1D7A-4F81-ABF6-AE0E36BAF64C}" type="slidenum">
              <a:rPr lang="en-US" smtClean="0"/>
              <a:pPr/>
              <a:t>16</a:t>
            </a:fld>
            <a:endParaRPr lang="en-US"/>
          </a:p>
        </p:txBody>
      </p:sp>
      <p:pic>
        <p:nvPicPr>
          <p:cNvPr id="7" name="図 6" descr="ect_3d_sif.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611" y="1524000"/>
            <a:ext cx="7543437" cy="5269578"/>
          </a:xfrm>
          <a:prstGeom prst="rect">
            <a:avLst/>
          </a:prstGeom>
        </p:spPr>
      </p:pic>
      <p:sp>
        <p:nvSpPr>
          <p:cNvPr id="8" name="角丸四角形吹き出し 7"/>
          <p:cNvSpPr/>
          <p:nvPr/>
        </p:nvSpPr>
        <p:spPr>
          <a:xfrm>
            <a:off x="2721429" y="2987521"/>
            <a:ext cx="4188890" cy="1625823"/>
          </a:xfrm>
          <a:prstGeom prst="wedgeRoundRectCallout">
            <a:avLst>
              <a:gd name="adj1" fmla="val 14804"/>
              <a:gd name="adj2" fmla="val 74959"/>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latin typeface="Palatino"/>
              <a:ea typeface="ヒラギノ角ゴ Pro W3"/>
            </a:endParaRPr>
          </a:p>
        </p:txBody>
      </p:sp>
      <p:graphicFrame>
        <p:nvGraphicFramePr>
          <p:cNvPr id="9" name="オブジェクト 8"/>
          <p:cNvGraphicFramePr>
            <a:graphicFrameLocks noChangeAspect="1"/>
          </p:cNvGraphicFramePr>
          <p:nvPr>
            <p:extLst>
              <p:ext uri="{D42A27DB-BD31-4B8C-83A1-F6EECF244321}">
                <p14:modId xmlns:p14="http://schemas.microsoft.com/office/powerpoint/2010/main" val="3224007563"/>
              </p:ext>
            </p:extLst>
          </p:nvPr>
        </p:nvGraphicFramePr>
        <p:xfrm>
          <a:off x="2842380" y="3120568"/>
          <a:ext cx="3934892" cy="1371824"/>
        </p:xfrm>
        <a:graphic>
          <a:graphicData uri="http://schemas.openxmlformats.org/presentationml/2006/ole">
            <mc:AlternateContent xmlns:mc="http://schemas.openxmlformats.org/markup-compatibility/2006">
              <mc:Choice xmlns:v="urn:schemas-microsoft-com:vml" Requires="v">
                <p:oleObj spid="_x0000_s5403" name="数式" r:id="rId4" imgW="2730500" imgH="952500" progId="Equation.3">
                  <p:embed/>
                </p:oleObj>
              </mc:Choice>
              <mc:Fallback>
                <p:oleObj name="数式" r:id="rId4" imgW="2730500" imgH="952500" progId="Equation.3">
                  <p:embed/>
                  <p:pic>
                    <p:nvPicPr>
                      <p:cNvPr id="0" name=""/>
                      <p:cNvPicPr/>
                      <p:nvPr/>
                    </p:nvPicPr>
                    <p:blipFill>
                      <a:blip r:embed="rId5"/>
                      <a:stretch>
                        <a:fillRect/>
                      </a:stretch>
                    </p:blipFill>
                    <p:spPr>
                      <a:xfrm>
                        <a:off x="2842380" y="3120568"/>
                        <a:ext cx="3934892" cy="1371824"/>
                      </a:xfrm>
                      <a:prstGeom prst="rect">
                        <a:avLst/>
                      </a:prstGeom>
                    </p:spPr>
                  </p:pic>
                </p:oleObj>
              </mc:Fallback>
            </mc:AlternateContent>
          </a:graphicData>
        </a:graphic>
      </p:graphicFrame>
    </p:spTree>
    <p:extLst>
      <p:ext uri="{BB962C8B-B14F-4D97-AF65-F5344CB8AC3E}">
        <p14:creationId xmlns:p14="http://schemas.microsoft.com/office/powerpoint/2010/main" val="217137031"/>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疲労サイクル数による精度比較</a:t>
            </a:r>
            <a:endParaRPr kumimoji="1" lang="ja-JP" altLang="en-US" dirty="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17</a:t>
            </a:fld>
            <a:endParaRPr lang="en-US"/>
          </a:p>
        </p:txBody>
      </p:sp>
      <p:pic>
        <p:nvPicPr>
          <p:cNvPr id="3" name="図 2" descr="ect_3d_cycles.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199" y="1524000"/>
            <a:ext cx="7525657" cy="5207327"/>
          </a:xfrm>
          <a:prstGeom prst="rect">
            <a:avLst/>
          </a:prstGeom>
        </p:spPr>
      </p:pic>
      <p:sp>
        <p:nvSpPr>
          <p:cNvPr id="11" name="角丸四角形吹き出し 10"/>
          <p:cNvSpPr/>
          <p:nvPr/>
        </p:nvSpPr>
        <p:spPr>
          <a:xfrm>
            <a:off x="2135448" y="2156077"/>
            <a:ext cx="2218838" cy="1339447"/>
          </a:xfrm>
          <a:prstGeom prst="wedgeRoundRectCallout">
            <a:avLst>
              <a:gd name="adj1" fmla="val 63319"/>
              <a:gd name="adj2" fmla="val 87601"/>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latin typeface="Palatino"/>
              <a:ea typeface="ヒラギノ角ゴ Pro W3"/>
            </a:endParaRPr>
          </a:p>
        </p:txBody>
      </p:sp>
      <p:graphicFrame>
        <p:nvGraphicFramePr>
          <p:cNvPr id="9" name="オブジェクト 8"/>
          <p:cNvGraphicFramePr>
            <a:graphicFrameLocks noChangeAspect="1"/>
          </p:cNvGraphicFramePr>
          <p:nvPr>
            <p:extLst>
              <p:ext uri="{D42A27DB-BD31-4B8C-83A1-F6EECF244321}">
                <p14:modId xmlns:p14="http://schemas.microsoft.com/office/powerpoint/2010/main" val="1360981216"/>
              </p:ext>
            </p:extLst>
          </p:nvPr>
        </p:nvGraphicFramePr>
        <p:xfrm>
          <a:off x="2475706" y="2494744"/>
          <a:ext cx="1754187" cy="892175"/>
        </p:xfrm>
        <a:graphic>
          <a:graphicData uri="http://schemas.openxmlformats.org/presentationml/2006/ole">
            <mc:AlternateContent xmlns:mc="http://schemas.openxmlformats.org/markup-compatibility/2006">
              <mc:Choice xmlns:v="urn:schemas-microsoft-com:vml" Requires="v">
                <p:oleObj spid="_x0000_s2549" name="数式" r:id="rId4" imgW="774700" imgH="393700" progId="Equation.3">
                  <p:embed/>
                </p:oleObj>
              </mc:Choice>
              <mc:Fallback>
                <p:oleObj name="数式" r:id="rId4" imgW="774700" imgH="393700" progId="Equation.3">
                  <p:embed/>
                  <p:pic>
                    <p:nvPicPr>
                      <p:cNvPr id="0" name=""/>
                      <p:cNvPicPr/>
                      <p:nvPr/>
                    </p:nvPicPr>
                    <p:blipFill>
                      <a:blip r:embed="rId5"/>
                      <a:stretch>
                        <a:fillRect/>
                      </a:stretch>
                    </p:blipFill>
                    <p:spPr>
                      <a:xfrm>
                        <a:off x="2475706" y="2494744"/>
                        <a:ext cx="1754187" cy="892175"/>
                      </a:xfrm>
                      <a:prstGeom prst="rect">
                        <a:avLst/>
                      </a:prstGeom>
                    </p:spPr>
                  </p:pic>
                </p:oleObj>
              </mc:Fallback>
            </mc:AlternateContent>
          </a:graphicData>
        </a:graphic>
      </p:graphicFrame>
      <p:sp>
        <p:nvSpPr>
          <p:cNvPr id="10" name="テキスト ボックス 9"/>
          <p:cNvSpPr txBox="1"/>
          <p:nvPr/>
        </p:nvSpPr>
        <p:spPr>
          <a:xfrm>
            <a:off x="2211323" y="2156077"/>
            <a:ext cx="984239" cy="369332"/>
          </a:xfrm>
          <a:prstGeom prst="rect">
            <a:avLst/>
          </a:prstGeom>
          <a:noFill/>
        </p:spPr>
        <p:txBody>
          <a:bodyPr wrap="none" rtlCol="0">
            <a:spAutoFit/>
          </a:bodyPr>
          <a:lstStyle/>
          <a:p>
            <a:r>
              <a:rPr kumimoji="1" lang="en-US" altLang="ja-JP" dirty="0" smtClean="0">
                <a:latin typeface="Palatino"/>
                <a:ea typeface="ヒラギノ角ゴ Pro W3"/>
              </a:rPr>
              <a:t>Paris </a:t>
            </a:r>
            <a:r>
              <a:rPr kumimoji="1" lang="ja-JP" altLang="en-US" dirty="0" smtClean="0">
                <a:latin typeface="Palatino"/>
                <a:ea typeface="ヒラギノ角ゴ Pro W3"/>
              </a:rPr>
              <a:t>則</a:t>
            </a:r>
            <a:endParaRPr kumimoji="1" lang="ja-JP" altLang="en-US" dirty="0">
              <a:latin typeface="Palatino"/>
              <a:ea typeface="ヒラギノ角ゴ Pro W3"/>
            </a:endParaRPr>
          </a:p>
        </p:txBody>
      </p:sp>
    </p:spTree>
    <p:extLst>
      <p:ext uri="{BB962C8B-B14F-4D97-AF65-F5344CB8AC3E}">
        <p14:creationId xmlns:p14="http://schemas.microsoft.com/office/powerpoint/2010/main" val="2913666112"/>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descr="time.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3600" y="1524000"/>
            <a:ext cx="7304264" cy="5207000"/>
          </a:xfrm>
          <a:prstGeom prst="rect">
            <a:avLst/>
          </a:prstGeom>
        </p:spPr>
      </p:pic>
      <p:sp>
        <p:nvSpPr>
          <p:cNvPr id="2" name="タイトル 1"/>
          <p:cNvSpPr>
            <a:spLocks noGrp="1"/>
          </p:cNvSpPr>
          <p:nvPr>
            <p:ph type="title"/>
          </p:nvPr>
        </p:nvSpPr>
        <p:spPr/>
        <p:txBody>
          <a:bodyPr/>
          <a:lstStyle/>
          <a:p>
            <a:r>
              <a:rPr lang="ja-JP" altLang="en-US" dirty="0" smtClean="0"/>
              <a:t>計算時間の比較</a:t>
            </a:r>
            <a:r>
              <a:rPr lang="en-US" altLang="ja-JP" dirty="0" smtClean="0"/>
              <a:t> (1/2)</a:t>
            </a:r>
            <a:endParaRPr kumimoji="1" lang="ja-JP" altLang="en-US" dirty="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18</a:t>
            </a:fld>
            <a:endParaRPr lang="en-US"/>
          </a:p>
        </p:txBody>
      </p:sp>
      <p:sp>
        <p:nvSpPr>
          <p:cNvPr id="12" name="角丸四角形吹き出し 11"/>
          <p:cNvSpPr/>
          <p:nvPr/>
        </p:nvSpPr>
        <p:spPr>
          <a:xfrm>
            <a:off x="84101" y="3454399"/>
            <a:ext cx="639799" cy="3276601"/>
          </a:xfrm>
          <a:prstGeom prst="wedgeRoundRectCallout">
            <a:avLst>
              <a:gd name="adj1" fmla="val 73970"/>
              <a:gd name="adj2" fmla="val 2283"/>
              <a:gd name="adj3" fmla="val 16667"/>
            </a:avLst>
          </a:prstGeom>
        </p:spPr>
        <p:style>
          <a:lnRef idx="1">
            <a:schemeClr val="accent5"/>
          </a:lnRef>
          <a:fillRef idx="2">
            <a:schemeClr val="accent5"/>
          </a:fillRef>
          <a:effectRef idx="1">
            <a:schemeClr val="accent5"/>
          </a:effectRef>
          <a:fontRef idx="minor">
            <a:schemeClr val="dk1"/>
          </a:fontRef>
        </p:style>
        <p:txBody>
          <a:bodyPr vert="eaVert" rtlCol="0" anchor="ctr"/>
          <a:lstStyle/>
          <a:p>
            <a:pPr algn="ctr"/>
            <a:r>
              <a:rPr lang="en-US" altLang="ja-JP" dirty="0" smtClean="0">
                <a:latin typeface="Palatino"/>
                <a:ea typeface="ヒラギノ角ゴ Pro W3"/>
              </a:rPr>
              <a:t>Intel Core i7-930 (Nehalem) </a:t>
            </a:r>
            <a:r>
              <a:rPr lang="ja-JP" altLang="en-US" dirty="0" smtClean="0">
                <a:latin typeface="Palatino"/>
                <a:ea typeface="ヒラギノ角ゴ Pro W3"/>
              </a:rPr>
              <a:t>の</a:t>
            </a:r>
            <a:r>
              <a:rPr lang="en-US" altLang="ja-JP" dirty="0" smtClean="0">
                <a:latin typeface="Palatino"/>
                <a:ea typeface="ヒラギノ角ゴ Pro W3"/>
              </a:rPr>
              <a:t> Linux PC </a:t>
            </a:r>
            <a:r>
              <a:rPr lang="ja-JP" altLang="en-US" dirty="0" smtClean="0">
                <a:latin typeface="Palatino"/>
                <a:ea typeface="ヒラギノ角ゴ Pro W3"/>
              </a:rPr>
              <a:t>にて計測</a:t>
            </a:r>
            <a:endParaRPr kumimoji="1" lang="ja-JP" altLang="en-US" dirty="0">
              <a:latin typeface="Palatino"/>
              <a:ea typeface="ヒラギノ角ゴ Pro W3"/>
            </a:endParaRPr>
          </a:p>
        </p:txBody>
      </p:sp>
      <p:cxnSp>
        <p:nvCxnSpPr>
          <p:cNvPr id="14" name="直線コネクタ 13"/>
          <p:cNvCxnSpPr/>
          <p:nvPr/>
        </p:nvCxnSpPr>
        <p:spPr>
          <a:xfrm>
            <a:off x="4711700" y="2527300"/>
            <a:ext cx="933450" cy="2908300"/>
          </a:xfrm>
          <a:prstGeom prst="line">
            <a:avLst/>
          </a:prstGeom>
        </p:spPr>
        <p:style>
          <a:lnRef idx="2">
            <a:schemeClr val="accent1"/>
          </a:lnRef>
          <a:fillRef idx="0">
            <a:schemeClr val="accent1"/>
          </a:fillRef>
          <a:effectRef idx="1">
            <a:schemeClr val="accent1"/>
          </a:effectRef>
          <a:fontRef idx="minor">
            <a:schemeClr val="tx1"/>
          </a:fontRef>
        </p:style>
      </p:cxnSp>
      <p:sp>
        <p:nvSpPr>
          <p:cNvPr id="11" name="角丸四角形吹き出し 10"/>
          <p:cNvSpPr/>
          <p:nvPr/>
        </p:nvSpPr>
        <p:spPr>
          <a:xfrm>
            <a:off x="2288507" y="3929521"/>
            <a:ext cx="827777" cy="440870"/>
          </a:xfrm>
          <a:prstGeom prst="wedgeRoundRectCallout">
            <a:avLst>
              <a:gd name="adj1" fmla="val 76764"/>
              <a:gd name="adj2" fmla="val 33156"/>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smtClean="0">
                <a:latin typeface="Palatino"/>
                <a:ea typeface="ヒラギノ角ゴ Pro W3"/>
              </a:rPr>
              <a:t>89 %</a:t>
            </a:r>
            <a:endParaRPr kumimoji="1" lang="ja-JP" altLang="en-US" dirty="0">
              <a:latin typeface="Palatino"/>
              <a:ea typeface="ヒラギノ角ゴ Pro W3"/>
            </a:endParaRPr>
          </a:p>
        </p:txBody>
      </p:sp>
      <p:sp>
        <p:nvSpPr>
          <p:cNvPr id="13" name="角丸四角形吹き出し 12"/>
          <p:cNvSpPr/>
          <p:nvPr/>
        </p:nvSpPr>
        <p:spPr>
          <a:xfrm>
            <a:off x="7214312" y="5326564"/>
            <a:ext cx="827777" cy="440870"/>
          </a:xfrm>
          <a:prstGeom prst="wedgeRoundRectCallout">
            <a:avLst>
              <a:gd name="adj1" fmla="val -75322"/>
              <a:gd name="adj2" fmla="val 40736"/>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smtClean="0">
                <a:latin typeface="Palatino"/>
                <a:ea typeface="ヒラギノ角ゴ Pro W3"/>
              </a:rPr>
              <a:t>50 %</a:t>
            </a:r>
            <a:endParaRPr kumimoji="1" lang="ja-JP" altLang="en-US" dirty="0">
              <a:latin typeface="Palatino"/>
              <a:ea typeface="ヒラギノ角ゴ Pro W3"/>
            </a:endParaRPr>
          </a:p>
        </p:txBody>
      </p:sp>
      <p:sp>
        <p:nvSpPr>
          <p:cNvPr id="15" name="角丸四角形吹き出し 14"/>
          <p:cNvSpPr/>
          <p:nvPr/>
        </p:nvSpPr>
        <p:spPr>
          <a:xfrm>
            <a:off x="6289239" y="596900"/>
            <a:ext cx="2661522" cy="927100"/>
          </a:xfrm>
          <a:prstGeom prst="wedgeRoundRectCallout">
            <a:avLst>
              <a:gd name="adj1" fmla="val -35126"/>
              <a:gd name="adj2" fmla="val 74754"/>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smtClean="0">
                <a:latin typeface="Palatino"/>
                <a:ea typeface="ヒラギノ角ゴ Pro W3"/>
              </a:rPr>
              <a:t>Intel MKL PARDISO</a:t>
            </a:r>
          </a:p>
          <a:p>
            <a:pPr algn="ctr"/>
            <a:r>
              <a:rPr kumimoji="1" lang="en-US" altLang="ja-JP" dirty="0" smtClean="0">
                <a:latin typeface="Palatino"/>
                <a:ea typeface="ヒラギノ角ゴ Pro W3"/>
              </a:rPr>
              <a:t>(</a:t>
            </a:r>
            <a:r>
              <a:rPr kumimoji="1" lang="ja-JP" altLang="en-US" dirty="0" smtClean="0">
                <a:latin typeface="Palatino"/>
                <a:ea typeface="ヒラギノ角ゴ Pro W3"/>
              </a:rPr>
              <a:t>スレッド並列疎行列</a:t>
            </a:r>
            <a:r>
              <a:rPr kumimoji="1" lang="en-US" altLang="ja-JP" dirty="0" smtClean="0">
                <a:latin typeface="Palatino"/>
                <a:ea typeface="ヒラギノ角ゴ Pro W3"/>
              </a:rPr>
              <a:t> LDL </a:t>
            </a:r>
            <a:r>
              <a:rPr kumimoji="1" lang="ja-JP" altLang="en-US" dirty="0" smtClean="0">
                <a:latin typeface="Palatino"/>
                <a:ea typeface="ヒラギノ角ゴ Pro W3"/>
              </a:rPr>
              <a:t>分解法ソルバー</a:t>
            </a:r>
            <a:r>
              <a:rPr kumimoji="1" lang="en-US" altLang="ja-JP" dirty="0" smtClean="0">
                <a:latin typeface="Palatino"/>
                <a:ea typeface="ヒラギノ角ゴ Pro W3"/>
              </a:rPr>
              <a:t>)</a:t>
            </a:r>
            <a:endParaRPr kumimoji="1" lang="ja-JP" altLang="en-US" dirty="0">
              <a:latin typeface="Palatino"/>
              <a:ea typeface="ヒラギノ角ゴ Pro W3"/>
            </a:endParaRPr>
          </a:p>
        </p:txBody>
      </p:sp>
      <p:sp>
        <p:nvSpPr>
          <p:cNvPr id="16" name="角丸四角形吹き出し 15"/>
          <p:cNvSpPr/>
          <p:nvPr/>
        </p:nvSpPr>
        <p:spPr>
          <a:xfrm>
            <a:off x="6098989" y="2527300"/>
            <a:ext cx="2590801" cy="1270000"/>
          </a:xfrm>
          <a:prstGeom prst="wedgeRoundRectCallout">
            <a:avLst>
              <a:gd name="adj1" fmla="val -30860"/>
              <a:gd name="adj2" fmla="val -68194"/>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r>
              <a:rPr kumimoji="1" lang="ja-JP" altLang="en-US" dirty="0" smtClean="0">
                <a:latin typeface="Palatino"/>
                <a:ea typeface="ヒラギノ角ゴ Pro W3"/>
              </a:rPr>
              <a:t>ファイル入出力、</a:t>
            </a:r>
            <a:endParaRPr kumimoji="1" lang="en-US" altLang="ja-JP" dirty="0" smtClean="0">
              <a:latin typeface="Palatino"/>
              <a:ea typeface="ヒラギノ角ゴ Pro W3"/>
            </a:endParaRPr>
          </a:p>
          <a:p>
            <a:r>
              <a:rPr kumimoji="1" lang="ja-JP" altLang="en-US" dirty="0" smtClean="0">
                <a:latin typeface="Palatino"/>
                <a:ea typeface="ヒラギノ角ゴ Pro W3"/>
              </a:rPr>
              <a:t>メモリ初期化、</a:t>
            </a:r>
            <a:endParaRPr kumimoji="1" lang="en-US" altLang="ja-JP" dirty="0" smtClean="0">
              <a:latin typeface="Palatino"/>
              <a:ea typeface="ヒラギノ角ゴ Pro W3"/>
            </a:endParaRPr>
          </a:p>
          <a:p>
            <a:r>
              <a:rPr kumimoji="1" lang="ja-JP" altLang="en-US" dirty="0" smtClean="0">
                <a:latin typeface="Palatino"/>
                <a:ea typeface="ヒラギノ角ゴ Pro W3"/>
              </a:rPr>
              <a:t>剛性行列生成、</a:t>
            </a:r>
            <a:endParaRPr kumimoji="1" lang="en-US" altLang="ja-JP" dirty="0" smtClean="0">
              <a:latin typeface="Palatino"/>
              <a:ea typeface="ヒラギノ角ゴ Pro W3"/>
            </a:endParaRPr>
          </a:p>
          <a:p>
            <a:r>
              <a:rPr kumimoji="1" lang="ja-JP" altLang="en-US" dirty="0" smtClean="0">
                <a:latin typeface="Palatino"/>
                <a:ea typeface="ヒラギノ角ゴ Pro W3"/>
              </a:rPr>
              <a:t>外力ベクトル生成など</a:t>
            </a:r>
            <a:endParaRPr kumimoji="1" lang="en-US" altLang="en-US" dirty="0" smtClean="0">
              <a:latin typeface="Palatino"/>
              <a:ea typeface="ヒラギノ角ゴ Pro W3"/>
            </a:endParaRPr>
          </a:p>
        </p:txBody>
      </p:sp>
      <p:sp>
        <p:nvSpPr>
          <p:cNvPr id="17" name="テキスト ボックス 16"/>
          <p:cNvSpPr txBox="1"/>
          <p:nvPr/>
        </p:nvSpPr>
        <p:spPr>
          <a:xfrm>
            <a:off x="3493687" y="2094468"/>
            <a:ext cx="974996" cy="369332"/>
          </a:xfrm>
          <a:prstGeom prst="rect">
            <a:avLst/>
          </a:prstGeom>
          <a:noFill/>
        </p:spPr>
        <p:txBody>
          <a:bodyPr wrap="none" rtlCol="0">
            <a:spAutoFit/>
          </a:bodyPr>
          <a:lstStyle/>
          <a:p>
            <a:pPr algn="ctr"/>
            <a:r>
              <a:rPr kumimoji="1" lang="en-US" altLang="ja-JP" dirty="0" smtClean="0">
                <a:latin typeface="Palatino"/>
                <a:ea typeface="ヒラギノ角ゴ Pro W3"/>
              </a:rPr>
              <a:t>57,000 s</a:t>
            </a:r>
            <a:endParaRPr kumimoji="1" lang="ja-JP" altLang="en-US" dirty="0">
              <a:latin typeface="Palatino"/>
              <a:ea typeface="ヒラギノ角ゴ Pro W3"/>
            </a:endParaRPr>
          </a:p>
        </p:txBody>
      </p:sp>
      <p:sp>
        <p:nvSpPr>
          <p:cNvPr id="18" name="テキスト ボックス 17"/>
          <p:cNvSpPr txBox="1"/>
          <p:nvPr/>
        </p:nvSpPr>
        <p:spPr>
          <a:xfrm>
            <a:off x="5526357" y="4733741"/>
            <a:ext cx="1734444" cy="646331"/>
          </a:xfrm>
          <a:prstGeom prst="rect">
            <a:avLst/>
          </a:prstGeom>
          <a:noFill/>
        </p:spPr>
        <p:txBody>
          <a:bodyPr wrap="none" rtlCol="0">
            <a:spAutoFit/>
          </a:bodyPr>
          <a:lstStyle/>
          <a:p>
            <a:pPr algn="ctr"/>
            <a:r>
              <a:rPr kumimoji="1" lang="en-US" altLang="ja-JP" dirty="0" smtClean="0">
                <a:latin typeface="Palatino"/>
                <a:ea typeface="ヒラギノ角ゴ Pro W3"/>
              </a:rPr>
              <a:t>12,600 s</a:t>
            </a:r>
          </a:p>
          <a:p>
            <a:pPr algn="ctr"/>
            <a:r>
              <a:rPr kumimoji="1" lang="en-US" altLang="ja-JP" dirty="0" smtClean="0">
                <a:latin typeface="Palatino"/>
                <a:ea typeface="ヒラギノ角ゴ Pro W3"/>
              </a:rPr>
              <a:t>(speedup: 4.52)</a:t>
            </a:r>
            <a:endParaRPr kumimoji="1" lang="ja-JP" altLang="en-US" dirty="0">
              <a:latin typeface="Palatino"/>
              <a:ea typeface="ヒラギノ角ゴ Pro W3"/>
            </a:endParaRPr>
          </a:p>
        </p:txBody>
      </p:sp>
    </p:spTree>
    <p:extLst>
      <p:ext uri="{BB962C8B-B14F-4D97-AF65-F5344CB8AC3E}">
        <p14:creationId xmlns:p14="http://schemas.microsoft.com/office/powerpoint/2010/main" val="2168862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descr="time_detail.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524000"/>
            <a:ext cx="7304262" cy="5207000"/>
          </a:xfrm>
          <a:prstGeom prst="rect">
            <a:avLst/>
          </a:prstGeom>
        </p:spPr>
      </p:pic>
      <p:sp>
        <p:nvSpPr>
          <p:cNvPr id="2" name="タイトル 1"/>
          <p:cNvSpPr>
            <a:spLocks noGrp="1"/>
          </p:cNvSpPr>
          <p:nvPr>
            <p:ph type="title"/>
          </p:nvPr>
        </p:nvSpPr>
        <p:spPr/>
        <p:txBody>
          <a:bodyPr/>
          <a:lstStyle/>
          <a:p>
            <a:r>
              <a:rPr lang="ja-JP" altLang="en-US" dirty="0" smtClean="0"/>
              <a:t>計算時間の比較</a:t>
            </a:r>
            <a:r>
              <a:rPr lang="en-US" altLang="ja-JP" dirty="0" smtClean="0"/>
              <a:t> (2/2)</a:t>
            </a:r>
            <a:endParaRPr kumimoji="1" lang="ja-JP" altLang="en-US" dirty="0"/>
          </a:p>
        </p:txBody>
      </p:sp>
      <p:sp>
        <p:nvSpPr>
          <p:cNvPr id="3" name="日付プレースホルダー 2"/>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4" name="フッター プレースホルダー 3"/>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5" name="スライド番号プレースホルダー 4"/>
          <p:cNvSpPr>
            <a:spLocks noGrp="1"/>
          </p:cNvSpPr>
          <p:nvPr>
            <p:ph type="sldNum" sz="quarter" idx="12"/>
          </p:nvPr>
        </p:nvSpPr>
        <p:spPr/>
        <p:txBody>
          <a:bodyPr/>
          <a:lstStyle/>
          <a:p>
            <a:fld id="{0CFEC368-1D7A-4F81-ABF6-AE0E36BAF64C}" type="slidenum">
              <a:rPr lang="en-US" smtClean="0"/>
              <a:pPr/>
              <a:t>19</a:t>
            </a:fld>
            <a:endParaRPr lang="en-US"/>
          </a:p>
        </p:txBody>
      </p:sp>
      <p:cxnSp>
        <p:nvCxnSpPr>
          <p:cNvPr id="15" name="直線コネクタ 14"/>
          <p:cNvCxnSpPr/>
          <p:nvPr/>
        </p:nvCxnSpPr>
        <p:spPr>
          <a:xfrm>
            <a:off x="4279900" y="2527300"/>
            <a:ext cx="933450" cy="29083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直線コネクタ 15"/>
          <p:cNvCxnSpPr/>
          <p:nvPr/>
        </p:nvCxnSpPr>
        <p:spPr>
          <a:xfrm>
            <a:off x="4279900" y="5845175"/>
            <a:ext cx="933450" cy="0"/>
          </a:xfrm>
          <a:prstGeom prst="line">
            <a:avLst/>
          </a:prstGeom>
        </p:spPr>
        <p:style>
          <a:lnRef idx="2">
            <a:schemeClr val="accent1"/>
          </a:lnRef>
          <a:fillRef idx="0">
            <a:schemeClr val="accent1"/>
          </a:fillRef>
          <a:effectRef idx="1">
            <a:schemeClr val="accent1"/>
          </a:effectRef>
          <a:fontRef idx="minor">
            <a:schemeClr val="tx1"/>
          </a:fontRef>
        </p:style>
      </p:cxnSp>
      <p:sp>
        <p:nvSpPr>
          <p:cNvPr id="20" name="角丸四角形吹き出し 19"/>
          <p:cNvSpPr/>
          <p:nvPr/>
        </p:nvSpPr>
        <p:spPr>
          <a:xfrm>
            <a:off x="1282700" y="5131330"/>
            <a:ext cx="1892300" cy="608540"/>
          </a:xfrm>
          <a:prstGeom prst="wedgeRoundRectCallout">
            <a:avLst>
              <a:gd name="adj1" fmla="val 66015"/>
              <a:gd name="adj2" fmla="val 62271"/>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dirty="0" smtClean="0">
                <a:solidFill>
                  <a:srgbClr val="FF0000"/>
                </a:solidFill>
                <a:latin typeface="Palatino"/>
                <a:ea typeface="ヒラギノ角ゴ Pro W3"/>
              </a:rPr>
              <a:t>前進・後退代入</a:t>
            </a:r>
            <a:endParaRPr lang="en-US" altLang="ja-JP" dirty="0">
              <a:solidFill>
                <a:srgbClr val="FF0000"/>
              </a:solidFill>
              <a:latin typeface="Palatino"/>
              <a:ea typeface="ヒラギノ角ゴ Pro W3"/>
            </a:endParaRPr>
          </a:p>
          <a:p>
            <a:pPr algn="ctr"/>
            <a:r>
              <a:rPr lang="en-US" altLang="ja-JP" dirty="0" smtClean="0">
                <a:solidFill>
                  <a:srgbClr val="FF0000"/>
                </a:solidFill>
                <a:latin typeface="Palatino"/>
                <a:ea typeface="ヒラギノ角ゴ Pro W3"/>
              </a:rPr>
              <a:t>41 </a:t>
            </a:r>
            <a:r>
              <a:rPr lang="ja-JP" altLang="en-US" dirty="0" smtClean="0">
                <a:solidFill>
                  <a:srgbClr val="FF0000"/>
                </a:solidFill>
                <a:latin typeface="Palatino"/>
                <a:ea typeface="ヒラギノ角ゴ Pro W3"/>
              </a:rPr>
              <a:t>回</a:t>
            </a:r>
            <a:endParaRPr kumimoji="1" lang="ja-JP" altLang="en-US" dirty="0">
              <a:solidFill>
                <a:srgbClr val="FF0000"/>
              </a:solidFill>
              <a:latin typeface="Palatino"/>
              <a:ea typeface="ヒラギノ角ゴ Pro W3"/>
            </a:endParaRPr>
          </a:p>
        </p:txBody>
      </p:sp>
      <p:sp>
        <p:nvSpPr>
          <p:cNvPr id="21" name="角丸四角形吹き出し 20"/>
          <p:cNvSpPr/>
          <p:nvPr/>
        </p:nvSpPr>
        <p:spPr>
          <a:xfrm>
            <a:off x="1282700" y="3633260"/>
            <a:ext cx="1892300" cy="608540"/>
          </a:xfrm>
          <a:prstGeom prst="wedgeRoundRectCallout">
            <a:avLst>
              <a:gd name="adj1" fmla="val 66015"/>
              <a:gd name="adj2" fmla="val 62271"/>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smtClean="0">
                <a:solidFill>
                  <a:srgbClr val="FF0000"/>
                </a:solidFill>
                <a:latin typeface="Palatino"/>
                <a:ea typeface="ヒラギノ角ゴ Pro W3"/>
              </a:rPr>
              <a:t>LDL </a:t>
            </a:r>
            <a:r>
              <a:rPr lang="ja-JP" altLang="en-US" dirty="0" smtClean="0">
                <a:solidFill>
                  <a:srgbClr val="FF0000"/>
                </a:solidFill>
                <a:latin typeface="Palatino"/>
                <a:ea typeface="ヒラギノ角ゴ Pro W3"/>
              </a:rPr>
              <a:t>分解</a:t>
            </a:r>
            <a:endParaRPr lang="en-US" altLang="ja-JP" dirty="0">
              <a:solidFill>
                <a:srgbClr val="FF0000"/>
              </a:solidFill>
              <a:latin typeface="Palatino"/>
              <a:ea typeface="ヒラギノ角ゴ Pro W3"/>
            </a:endParaRPr>
          </a:p>
          <a:p>
            <a:pPr algn="ctr"/>
            <a:r>
              <a:rPr lang="en-US" altLang="ja-JP" dirty="0" smtClean="0">
                <a:solidFill>
                  <a:srgbClr val="FF0000"/>
                </a:solidFill>
                <a:latin typeface="Palatino"/>
                <a:ea typeface="ヒラギノ角ゴ Pro W3"/>
              </a:rPr>
              <a:t>41 </a:t>
            </a:r>
            <a:r>
              <a:rPr lang="ja-JP" altLang="en-US" dirty="0" smtClean="0">
                <a:solidFill>
                  <a:srgbClr val="FF0000"/>
                </a:solidFill>
                <a:latin typeface="Palatino"/>
                <a:ea typeface="ヒラギノ角ゴ Pro W3"/>
              </a:rPr>
              <a:t>回</a:t>
            </a:r>
            <a:endParaRPr kumimoji="1" lang="ja-JP" altLang="en-US" dirty="0">
              <a:solidFill>
                <a:srgbClr val="FF0000"/>
              </a:solidFill>
              <a:latin typeface="Palatino"/>
              <a:ea typeface="ヒラギノ角ゴ Pro W3"/>
            </a:endParaRPr>
          </a:p>
        </p:txBody>
      </p:sp>
      <p:cxnSp>
        <p:nvCxnSpPr>
          <p:cNvPr id="26" name="直線コネクタ 25"/>
          <p:cNvCxnSpPr/>
          <p:nvPr/>
        </p:nvCxnSpPr>
        <p:spPr>
          <a:xfrm flipV="1">
            <a:off x="4279900" y="5762625"/>
            <a:ext cx="933450" cy="82551"/>
          </a:xfrm>
          <a:prstGeom prst="line">
            <a:avLst/>
          </a:prstGeom>
        </p:spPr>
        <p:style>
          <a:lnRef idx="2">
            <a:schemeClr val="accent1"/>
          </a:lnRef>
          <a:fillRef idx="0">
            <a:schemeClr val="accent1"/>
          </a:fillRef>
          <a:effectRef idx="1">
            <a:schemeClr val="accent1"/>
          </a:effectRef>
          <a:fontRef idx="minor">
            <a:schemeClr val="tx1"/>
          </a:fontRef>
        </p:style>
      </p:cxnSp>
      <p:sp>
        <p:nvSpPr>
          <p:cNvPr id="29" name="角丸四角形吹き出し 28"/>
          <p:cNvSpPr/>
          <p:nvPr/>
        </p:nvSpPr>
        <p:spPr>
          <a:xfrm>
            <a:off x="6896100" y="3734330"/>
            <a:ext cx="2247900" cy="608540"/>
          </a:xfrm>
          <a:prstGeom prst="wedgeRoundRectCallout">
            <a:avLst>
              <a:gd name="adj1" fmla="val -77651"/>
              <a:gd name="adj2" fmla="val 236532"/>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smtClean="0">
                <a:solidFill>
                  <a:srgbClr val="FF0000"/>
                </a:solidFill>
                <a:latin typeface="Palatino"/>
                <a:ea typeface="ヒラギノ角ゴ Pro W3"/>
              </a:rPr>
              <a:t>LDL </a:t>
            </a:r>
            <a:r>
              <a:rPr lang="ja-JP" altLang="en-US" dirty="0" smtClean="0">
                <a:solidFill>
                  <a:srgbClr val="FF0000"/>
                </a:solidFill>
                <a:latin typeface="Palatino"/>
                <a:ea typeface="ヒラギノ角ゴ Pro W3"/>
              </a:rPr>
              <a:t>分解</a:t>
            </a:r>
            <a:endParaRPr lang="en-US" altLang="ja-JP" dirty="0">
              <a:solidFill>
                <a:srgbClr val="FF0000"/>
              </a:solidFill>
              <a:latin typeface="Palatino"/>
              <a:ea typeface="ヒラギノ角ゴ Pro W3"/>
            </a:endParaRPr>
          </a:p>
          <a:p>
            <a:pPr algn="ctr"/>
            <a:r>
              <a:rPr lang="en-US" altLang="ja-JP" dirty="0" smtClean="0">
                <a:solidFill>
                  <a:srgbClr val="FF0000"/>
                </a:solidFill>
                <a:latin typeface="Palatino"/>
                <a:ea typeface="ヒラギノ角ゴ Pro W3"/>
              </a:rPr>
              <a:t>1 </a:t>
            </a:r>
            <a:r>
              <a:rPr lang="ja-JP" altLang="en-US" dirty="0" smtClean="0">
                <a:solidFill>
                  <a:srgbClr val="FF0000"/>
                </a:solidFill>
                <a:latin typeface="Palatino"/>
                <a:ea typeface="ヒラギノ角ゴ Pro W3"/>
              </a:rPr>
              <a:t>回</a:t>
            </a:r>
            <a:r>
              <a:rPr lang="en-US" altLang="ja-JP" dirty="0" smtClean="0">
                <a:solidFill>
                  <a:srgbClr val="FF0000"/>
                </a:solidFill>
                <a:latin typeface="Palatino"/>
                <a:ea typeface="ヒラギノ角ゴ Pro W3"/>
              </a:rPr>
              <a:t> (</a:t>
            </a:r>
            <a:r>
              <a:rPr lang="ja-JP" altLang="en-US" dirty="0" smtClean="0">
                <a:solidFill>
                  <a:srgbClr val="FF0000"/>
                </a:solidFill>
                <a:latin typeface="Palatino"/>
                <a:ea typeface="ヒラギノ角ゴ Pro W3"/>
              </a:rPr>
              <a:t>グローバル</a:t>
            </a:r>
            <a:r>
              <a:rPr lang="en-US" altLang="ja-JP" dirty="0" smtClean="0">
                <a:solidFill>
                  <a:srgbClr val="FF0000"/>
                </a:solidFill>
                <a:latin typeface="Palatino"/>
                <a:ea typeface="ヒラギノ角ゴ Pro W3"/>
              </a:rPr>
              <a:t>)</a:t>
            </a:r>
            <a:endParaRPr kumimoji="1" lang="ja-JP" altLang="en-US" dirty="0">
              <a:solidFill>
                <a:srgbClr val="FF0000"/>
              </a:solidFill>
              <a:latin typeface="Palatino"/>
              <a:ea typeface="ヒラギノ角ゴ Pro W3"/>
            </a:endParaRPr>
          </a:p>
        </p:txBody>
      </p:sp>
      <p:sp>
        <p:nvSpPr>
          <p:cNvPr id="31" name="角丸四角形吹き出し 30"/>
          <p:cNvSpPr/>
          <p:nvPr/>
        </p:nvSpPr>
        <p:spPr>
          <a:xfrm>
            <a:off x="6896100" y="5239812"/>
            <a:ext cx="2247900" cy="608540"/>
          </a:xfrm>
          <a:prstGeom prst="wedgeRoundRectCallout">
            <a:avLst>
              <a:gd name="adj1" fmla="val -77651"/>
              <a:gd name="adj2" fmla="val 44532"/>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smtClean="0">
                <a:latin typeface="Palatino"/>
                <a:ea typeface="ヒラギノ角ゴ Pro W3"/>
              </a:rPr>
              <a:t>LDL </a:t>
            </a:r>
            <a:r>
              <a:rPr lang="ja-JP" altLang="en-US" dirty="0" smtClean="0">
                <a:latin typeface="Palatino"/>
                <a:ea typeface="ヒラギノ角ゴ Pro W3"/>
              </a:rPr>
              <a:t>分解</a:t>
            </a:r>
            <a:endParaRPr lang="en-US" altLang="ja-JP" dirty="0">
              <a:latin typeface="Palatino"/>
              <a:ea typeface="ヒラギノ角ゴ Pro W3"/>
            </a:endParaRPr>
          </a:p>
          <a:p>
            <a:pPr algn="ctr"/>
            <a:r>
              <a:rPr lang="en-US" altLang="ja-JP" dirty="0" smtClean="0">
                <a:latin typeface="Palatino"/>
                <a:ea typeface="ヒラギノ角ゴ Pro W3"/>
              </a:rPr>
              <a:t>41 </a:t>
            </a:r>
            <a:r>
              <a:rPr lang="ja-JP" altLang="en-US" dirty="0" smtClean="0">
                <a:latin typeface="Palatino"/>
                <a:ea typeface="ヒラギノ角ゴ Pro W3"/>
              </a:rPr>
              <a:t>回</a:t>
            </a:r>
            <a:r>
              <a:rPr lang="en-US" altLang="ja-JP" dirty="0" smtClean="0">
                <a:latin typeface="Palatino"/>
                <a:ea typeface="ヒラギノ角ゴ Pro W3"/>
              </a:rPr>
              <a:t> (</a:t>
            </a:r>
            <a:r>
              <a:rPr lang="ja-JP" altLang="en-US" dirty="0" smtClean="0">
                <a:latin typeface="Palatino"/>
                <a:ea typeface="ヒラギノ角ゴ Pro W3"/>
              </a:rPr>
              <a:t>ローカル</a:t>
            </a:r>
            <a:r>
              <a:rPr lang="en-US" altLang="ja-JP" dirty="0" smtClean="0">
                <a:latin typeface="Palatino"/>
                <a:ea typeface="ヒラギノ角ゴ Pro W3"/>
              </a:rPr>
              <a:t>)</a:t>
            </a:r>
            <a:endParaRPr kumimoji="1" lang="ja-JP" altLang="en-US" dirty="0">
              <a:latin typeface="Palatino"/>
              <a:ea typeface="ヒラギノ角ゴ Pro W3"/>
            </a:endParaRPr>
          </a:p>
        </p:txBody>
      </p:sp>
      <p:sp>
        <p:nvSpPr>
          <p:cNvPr id="32" name="角丸四角形吹き出し 31"/>
          <p:cNvSpPr/>
          <p:nvPr/>
        </p:nvSpPr>
        <p:spPr>
          <a:xfrm>
            <a:off x="6896100" y="5862112"/>
            <a:ext cx="2247900" cy="608540"/>
          </a:xfrm>
          <a:prstGeom prst="wedgeRoundRectCallout">
            <a:avLst>
              <a:gd name="adj1" fmla="val -77792"/>
              <a:gd name="adj2" fmla="val -48860"/>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dirty="0" smtClean="0">
                <a:latin typeface="Palatino"/>
                <a:ea typeface="ヒラギノ角ゴ Pro W3"/>
              </a:rPr>
              <a:t>前進・後退代入</a:t>
            </a:r>
            <a:endParaRPr lang="en-US" altLang="ja-JP" dirty="0">
              <a:latin typeface="Palatino"/>
              <a:ea typeface="ヒラギノ角ゴ Pro W3"/>
            </a:endParaRPr>
          </a:p>
          <a:p>
            <a:pPr algn="ctr"/>
            <a:r>
              <a:rPr lang="en-US" altLang="ja-JP" dirty="0" smtClean="0">
                <a:latin typeface="Palatino"/>
                <a:ea typeface="ヒラギノ角ゴ Pro W3"/>
              </a:rPr>
              <a:t>649 </a:t>
            </a:r>
            <a:r>
              <a:rPr lang="ja-JP" altLang="en-US" dirty="0" smtClean="0">
                <a:latin typeface="Palatino"/>
                <a:ea typeface="ヒラギノ角ゴ Pro W3"/>
              </a:rPr>
              <a:t>回</a:t>
            </a:r>
            <a:r>
              <a:rPr lang="en-US" altLang="ja-JP" dirty="0" smtClean="0">
                <a:latin typeface="Palatino"/>
                <a:ea typeface="ヒラギノ角ゴ Pro W3"/>
              </a:rPr>
              <a:t> (</a:t>
            </a:r>
            <a:r>
              <a:rPr lang="ja-JP" altLang="en-US" dirty="0" smtClean="0">
                <a:latin typeface="Palatino"/>
                <a:ea typeface="ヒラギノ角ゴ Pro W3"/>
              </a:rPr>
              <a:t>ローカル</a:t>
            </a:r>
            <a:r>
              <a:rPr lang="en-US" altLang="ja-JP" dirty="0" smtClean="0">
                <a:latin typeface="Palatino"/>
                <a:ea typeface="ヒラギノ角ゴ Pro W3"/>
              </a:rPr>
              <a:t>)</a:t>
            </a:r>
            <a:endParaRPr kumimoji="1" lang="ja-JP" altLang="en-US" dirty="0">
              <a:latin typeface="Palatino"/>
              <a:ea typeface="ヒラギノ角ゴ Pro W3"/>
            </a:endParaRPr>
          </a:p>
        </p:txBody>
      </p:sp>
      <p:cxnSp>
        <p:nvCxnSpPr>
          <p:cNvPr id="33" name="直線コネクタ 32"/>
          <p:cNvCxnSpPr/>
          <p:nvPr/>
        </p:nvCxnSpPr>
        <p:spPr>
          <a:xfrm flipV="1">
            <a:off x="4279900" y="5505451"/>
            <a:ext cx="933450" cy="339724"/>
          </a:xfrm>
          <a:prstGeom prst="line">
            <a:avLst/>
          </a:prstGeom>
        </p:spPr>
        <p:style>
          <a:lnRef idx="2">
            <a:schemeClr val="accent1"/>
          </a:lnRef>
          <a:fillRef idx="0">
            <a:schemeClr val="accent1"/>
          </a:fillRef>
          <a:effectRef idx="1">
            <a:schemeClr val="accent1"/>
          </a:effectRef>
          <a:fontRef idx="minor">
            <a:schemeClr val="tx1"/>
          </a:fontRef>
        </p:style>
      </p:cxnSp>
      <p:sp>
        <p:nvSpPr>
          <p:cNvPr id="30" name="角丸四角形吹き出し 29"/>
          <p:cNvSpPr/>
          <p:nvPr/>
        </p:nvSpPr>
        <p:spPr>
          <a:xfrm>
            <a:off x="6896100" y="4343400"/>
            <a:ext cx="2247900" cy="608540"/>
          </a:xfrm>
          <a:prstGeom prst="wedgeRoundRectCallout">
            <a:avLst>
              <a:gd name="adj1" fmla="val -77651"/>
              <a:gd name="adj2" fmla="val 159836"/>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dirty="0" smtClean="0">
                <a:solidFill>
                  <a:srgbClr val="FF0000"/>
                </a:solidFill>
                <a:latin typeface="Palatino"/>
                <a:ea typeface="ヒラギノ角ゴ Pro W3"/>
              </a:rPr>
              <a:t>前進・後退代入</a:t>
            </a:r>
            <a:endParaRPr lang="en-US" altLang="ja-JP" dirty="0">
              <a:solidFill>
                <a:srgbClr val="FF0000"/>
              </a:solidFill>
              <a:latin typeface="Palatino"/>
              <a:ea typeface="ヒラギノ角ゴ Pro W3"/>
            </a:endParaRPr>
          </a:p>
          <a:p>
            <a:pPr algn="ctr"/>
            <a:r>
              <a:rPr lang="en-US" altLang="ja-JP" dirty="0" smtClean="0">
                <a:solidFill>
                  <a:srgbClr val="FF0000"/>
                </a:solidFill>
                <a:latin typeface="Palatino"/>
                <a:ea typeface="ヒラギノ角ゴ Pro W3"/>
              </a:rPr>
              <a:t>690 </a:t>
            </a:r>
            <a:r>
              <a:rPr lang="ja-JP" altLang="en-US" dirty="0" smtClean="0">
                <a:solidFill>
                  <a:srgbClr val="FF0000"/>
                </a:solidFill>
                <a:latin typeface="Palatino"/>
                <a:ea typeface="ヒラギノ角ゴ Pro W3"/>
              </a:rPr>
              <a:t>回</a:t>
            </a:r>
            <a:r>
              <a:rPr lang="en-US" altLang="ja-JP" dirty="0" smtClean="0">
                <a:solidFill>
                  <a:srgbClr val="FF0000"/>
                </a:solidFill>
                <a:latin typeface="Palatino"/>
                <a:ea typeface="ヒラギノ角ゴ Pro W3"/>
              </a:rPr>
              <a:t> (</a:t>
            </a:r>
            <a:r>
              <a:rPr lang="ja-JP" altLang="en-US" dirty="0" smtClean="0">
                <a:solidFill>
                  <a:srgbClr val="FF0000"/>
                </a:solidFill>
                <a:latin typeface="Palatino"/>
                <a:ea typeface="ヒラギノ角ゴ Pro W3"/>
              </a:rPr>
              <a:t>グローバル</a:t>
            </a:r>
            <a:r>
              <a:rPr lang="en-US" altLang="ja-JP" dirty="0" smtClean="0">
                <a:solidFill>
                  <a:srgbClr val="FF0000"/>
                </a:solidFill>
                <a:latin typeface="Palatino"/>
                <a:ea typeface="ヒラギノ角ゴ Pro W3"/>
              </a:rPr>
              <a:t>)</a:t>
            </a:r>
            <a:endParaRPr kumimoji="1" lang="ja-JP" altLang="en-US" dirty="0">
              <a:solidFill>
                <a:srgbClr val="FF0000"/>
              </a:solidFill>
              <a:latin typeface="Palatino"/>
              <a:ea typeface="ヒラギノ角ゴ Pro W3"/>
            </a:endParaRPr>
          </a:p>
        </p:txBody>
      </p:sp>
    </p:spTree>
    <p:extLst>
      <p:ext uri="{BB962C8B-B14F-4D97-AF65-F5344CB8AC3E}">
        <p14:creationId xmlns:p14="http://schemas.microsoft.com/office/powerpoint/2010/main" val="1396927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結論</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大規模破壊力学問題に適した解法として分離反復連成解法を</a:t>
            </a:r>
            <a:r>
              <a:rPr lang="ja-JP" altLang="en-US" dirty="0" smtClean="0"/>
              <a:t>提案した。</a:t>
            </a:r>
            <a:endParaRPr lang="en-US" altLang="ja-JP" dirty="0" smtClean="0"/>
          </a:p>
          <a:p>
            <a:pPr lvl="1"/>
            <a:r>
              <a:rPr kumimoji="1" lang="ja-JP" altLang="en-US" dirty="0" smtClean="0"/>
              <a:t>局所的な煩雑さを全体から分離できる。</a:t>
            </a:r>
            <a:endParaRPr kumimoji="1" lang="en-US" altLang="ja-JP" dirty="0" smtClean="0"/>
          </a:p>
          <a:p>
            <a:endParaRPr lang="en-US" altLang="ja-JP" dirty="0" smtClean="0"/>
          </a:p>
          <a:p>
            <a:r>
              <a:rPr lang="en-US" altLang="ja-JP" dirty="0" smtClean="0"/>
              <a:t>196 </a:t>
            </a:r>
            <a:r>
              <a:rPr lang="ja-JP" altLang="en-US" dirty="0" smtClean="0"/>
              <a:t>万自由度の疲労き裂進展解析例では</a:t>
            </a:r>
            <a:r>
              <a:rPr kumimoji="1" lang="ja-JP" altLang="en-US" dirty="0" smtClean="0"/>
              <a:t>、通常の有限要素解析と</a:t>
            </a:r>
            <a:r>
              <a:rPr lang="ja-JP" altLang="en-US" dirty="0" smtClean="0">
                <a:solidFill>
                  <a:srgbClr val="D2533C"/>
                </a:solidFill>
              </a:rPr>
              <a:t>同等の</a:t>
            </a:r>
            <a:r>
              <a:rPr kumimoji="1" lang="ja-JP" altLang="en-US" dirty="0" smtClean="0">
                <a:solidFill>
                  <a:srgbClr val="D2533C"/>
                </a:solidFill>
              </a:rPr>
              <a:t>精度</a:t>
            </a:r>
            <a:r>
              <a:rPr lang="ja-JP" altLang="en-US" dirty="0" smtClean="0"/>
              <a:t>で</a:t>
            </a:r>
            <a:r>
              <a:rPr lang="en-US" altLang="ja-JP" dirty="0" smtClean="0"/>
              <a:t> 4.52 </a:t>
            </a:r>
            <a:r>
              <a:rPr lang="ja-JP" altLang="en-US" dirty="0" smtClean="0"/>
              <a:t>倍</a:t>
            </a:r>
            <a:r>
              <a:rPr lang="ja-JP" altLang="en-US" dirty="0" smtClean="0">
                <a:solidFill>
                  <a:srgbClr val="D2533C"/>
                </a:solidFill>
              </a:rPr>
              <a:t>高速化</a:t>
            </a:r>
            <a:r>
              <a:rPr lang="ja-JP" altLang="en-US" dirty="0" smtClean="0"/>
              <a:t>した。</a:t>
            </a:r>
            <a:endParaRPr kumimoji="1" lang="en-US" altLang="ja-JP" dirty="0" smtClean="0"/>
          </a:p>
          <a:p>
            <a:endParaRPr kumimoji="1" lang="en-US" altLang="ja-JP" dirty="0" smtClean="0"/>
          </a:p>
          <a:p>
            <a:r>
              <a:rPr kumimoji="1" lang="ja-JP" altLang="en-US" dirty="0" smtClean="0"/>
              <a:t>グローバル領域の剛性行列が悪条件にならないので、大規模化しやすい解法であると考えられる。</a:t>
            </a:r>
            <a:endParaRPr kumimoji="1" lang="en-US" altLang="ja-JP" dirty="0" smtClean="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20</a:t>
            </a:fld>
            <a:endParaRPr lang="en-US"/>
          </a:p>
        </p:txBody>
      </p:sp>
    </p:spTree>
    <p:extLst>
      <p:ext uri="{BB962C8B-B14F-4D97-AF65-F5344CB8AC3E}">
        <p14:creationId xmlns:p14="http://schemas.microsoft.com/office/powerpoint/2010/main" val="1051742172"/>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博士後期課程での研究構想</a:t>
            </a:r>
            <a:r>
              <a:rPr kumimoji="1" lang="en-US" altLang="ja-JP" dirty="0" smtClean="0"/>
              <a:t> (1/2):</a:t>
            </a:r>
            <a:br>
              <a:rPr kumimoji="1" lang="en-US" altLang="ja-JP" dirty="0" smtClean="0"/>
            </a:br>
            <a:r>
              <a:rPr lang="ja-JP" altLang="en-US" dirty="0" smtClean="0"/>
              <a:t>き裂進展解析の高度化</a:t>
            </a:r>
            <a:endParaRPr kumimoji="1" lang="ja-JP" altLang="en-US" dirty="0"/>
          </a:p>
        </p:txBody>
      </p:sp>
      <p:sp>
        <p:nvSpPr>
          <p:cNvPr id="3" name="コンテンツ プレースホルダー 2"/>
          <p:cNvSpPr>
            <a:spLocks noGrp="1"/>
          </p:cNvSpPr>
          <p:nvPr>
            <p:ph idx="1"/>
          </p:nvPr>
        </p:nvSpPr>
        <p:spPr>
          <a:xfrm>
            <a:off x="457200" y="1600200"/>
            <a:ext cx="4094252" cy="4876800"/>
          </a:xfrm>
        </p:spPr>
        <p:txBody>
          <a:bodyPr/>
          <a:lstStyle/>
          <a:p>
            <a:endParaRPr lang="en-US" altLang="ja-JP" dirty="0" smtClean="0"/>
          </a:p>
          <a:p>
            <a:r>
              <a:rPr lang="ja-JP" altLang="en-US" dirty="0" smtClean="0"/>
              <a:t>計算破壊力学の分野では、より現実に近い形状のき裂の解析が行われている。</a:t>
            </a:r>
            <a:endParaRPr lang="en-US" altLang="ja-JP" dirty="0" smtClean="0"/>
          </a:p>
          <a:p>
            <a:pPr lvl="1"/>
            <a:r>
              <a:rPr lang="ja-JP" altLang="en-US" dirty="0" smtClean="0"/>
              <a:t>破壊力学パラメータ</a:t>
            </a:r>
            <a:r>
              <a:rPr lang="en-US" altLang="ja-JP" dirty="0" smtClean="0"/>
              <a:t> (</a:t>
            </a:r>
            <a:r>
              <a:rPr lang="ja-JP" altLang="en-US" dirty="0" smtClean="0"/>
              <a:t>応力拡大係数</a:t>
            </a:r>
            <a:r>
              <a:rPr lang="en-US" altLang="ja-JP" dirty="0" smtClean="0"/>
              <a:t>) </a:t>
            </a:r>
            <a:r>
              <a:rPr lang="ja-JP" altLang="en-US" dirty="0" smtClean="0"/>
              <a:t>やき裂進展方向の評価の高度化</a:t>
            </a:r>
            <a:endParaRPr lang="en-US" altLang="ja-JP" dirty="0" smtClean="0">
              <a:solidFill>
                <a:srgbClr val="FF0000"/>
              </a:solidFill>
            </a:endParaRPr>
          </a:p>
          <a:p>
            <a:pPr lvl="1"/>
            <a:r>
              <a:rPr lang="ja-JP" altLang="en-US" dirty="0" smtClean="0">
                <a:solidFill>
                  <a:srgbClr val="FF0000"/>
                </a:solidFill>
              </a:rPr>
              <a:t>き裂進展に伴うメッシュ再分割の高度化</a:t>
            </a:r>
            <a:endParaRPr kumimoji="1" lang="ja-JP" altLang="en-US" dirty="0">
              <a:solidFill>
                <a:srgbClr val="FF0000"/>
              </a:solidFill>
            </a:endParaRPr>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21</a:t>
            </a:fld>
            <a:endParaRPr lang="en-US"/>
          </a:p>
        </p:txBody>
      </p:sp>
      <p:pic>
        <p:nvPicPr>
          <p:cNvPr id="9" name="図 8" descr="tensile_test.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51452" y="1600200"/>
            <a:ext cx="4135348" cy="5257800"/>
          </a:xfrm>
          <a:prstGeom prst="rect">
            <a:avLst/>
          </a:prstGeom>
        </p:spPr>
      </p:pic>
      <p:sp>
        <p:nvSpPr>
          <p:cNvPr id="10" name="角丸四角形吹き出し 9"/>
          <p:cNvSpPr/>
          <p:nvPr/>
        </p:nvSpPr>
        <p:spPr>
          <a:xfrm>
            <a:off x="4114800" y="5068891"/>
            <a:ext cx="1632661" cy="440870"/>
          </a:xfrm>
          <a:prstGeom prst="wedgeRoundRectCallout">
            <a:avLst>
              <a:gd name="adj1" fmla="val 77542"/>
              <a:gd name="adj2" fmla="val -61906"/>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en-US" dirty="0" smtClean="0">
                <a:latin typeface="Palatino"/>
                <a:ea typeface="ヒラギノ角ゴ Pro W3"/>
              </a:rPr>
              <a:t>曲がったき裂</a:t>
            </a:r>
            <a:endParaRPr kumimoji="1" lang="ja-JP" altLang="en-US" dirty="0">
              <a:latin typeface="Palatino"/>
              <a:ea typeface="ヒラギノ角ゴ Pro W3"/>
            </a:endParaRPr>
          </a:p>
        </p:txBody>
      </p:sp>
    </p:spTree>
    <p:extLst>
      <p:ext uri="{BB962C8B-B14F-4D97-AF65-F5344CB8AC3E}">
        <p14:creationId xmlns:p14="http://schemas.microsoft.com/office/powerpoint/2010/main" val="1860307350"/>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博士後期課程での研究構想</a:t>
            </a:r>
            <a:r>
              <a:rPr kumimoji="1" lang="en-US" altLang="ja-JP" dirty="0" smtClean="0"/>
              <a:t> (2/2):</a:t>
            </a:r>
            <a:br>
              <a:rPr kumimoji="1" lang="en-US" altLang="ja-JP" dirty="0" smtClean="0"/>
            </a:br>
            <a:r>
              <a:rPr lang="ja-JP" altLang="en-US" dirty="0" smtClean="0"/>
              <a:t>非線形問題への応用</a:t>
            </a:r>
            <a:endParaRPr kumimoji="1" lang="ja-JP" altLang="en-US" dirty="0"/>
          </a:p>
        </p:txBody>
      </p:sp>
      <p:sp>
        <p:nvSpPr>
          <p:cNvPr id="3" name="コンテンツ プレースホルダー 2"/>
          <p:cNvSpPr>
            <a:spLocks noGrp="1"/>
          </p:cNvSpPr>
          <p:nvPr>
            <p:ph idx="1"/>
          </p:nvPr>
        </p:nvSpPr>
        <p:spPr>
          <a:xfrm>
            <a:off x="457200" y="1600200"/>
            <a:ext cx="3949700" cy="4876800"/>
          </a:xfrm>
        </p:spPr>
        <p:txBody>
          <a:bodyPr>
            <a:normAutofit/>
          </a:bodyPr>
          <a:lstStyle/>
          <a:p>
            <a:endParaRPr lang="en-US" altLang="ja-JP" dirty="0" smtClean="0"/>
          </a:p>
          <a:p>
            <a:r>
              <a:rPr lang="ja-JP" altLang="en-US" dirty="0" smtClean="0"/>
              <a:t>非線形性問題に分離反復連成解法を応用する。</a:t>
            </a:r>
            <a:endParaRPr lang="en-US" altLang="ja-JP" dirty="0" smtClean="0"/>
          </a:p>
          <a:p>
            <a:pPr lvl="1"/>
            <a:r>
              <a:rPr lang="ja-JP" altLang="en-US" dirty="0" smtClean="0">
                <a:solidFill>
                  <a:srgbClr val="FF0000"/>
                </a:solidFill>
              </a:rPr>
              <a:t>弾塑性</a:t>
            </a:r>
            <a:endParaRPr lang="en-US" altLang="ja-JP" dirty="0" smtClean="0">
              <a:solidFill>
                <a:srgbClr val="FF0000"/>
              </a:solidFill>
            </a:endParaRPr>
          </a:p>
          <a:p>
            <a:pPr lvl="1"/>
            <a:r>
              <a:rPr lang="ja-JP" altLang="en-US" dirty="0" smtClean="0"/>
              <a:t>弾塑性き裂進展</a:t>
            </a:r>
            <a:endParaRPr lang="en-US" altLang="ja-JP" dirty="0"/>
          </a:p>
          <a:p>
            <a:endParaRPr lang="en-US" altLang="ja-JP" dirty="0" smtClean="0"/>
          </a:p>
          <a:p>
            <a:r>
              <a:rPr lang="ja-JP" altLang="en-US" dirty="0" smtClean="0">
                <a:solidFill>
                  <a:srgbClr val="FF0000"/>
                </a:solidFill>
              </a:rPr>
              <a:t>増分解析</a:t>
            </a:r>
            <a:r>
              <a:rPr lang="ja-JP" altLang="en-US" dirty="0" smtClean="0"/>
              <a:t>や</a:t>
            </a:r>
            <a:r>
              <a:rPr lang="en-US" altLang="ja-JP" dirty="0" smtClean="0"/>
              <a:t> </a:t>
            </a:r>
            <a:r>
              <a:rPr lang="en-US" altLang="ja-JP" dirty="0" smtClean="0">
                <a:solidFill>
                  <a:srgbClr val="FF0000"/>
                </a:solidFill>
              </a:rPr>
              <a:t>Newton–Raphson </a:t>
            </a:r>
            <a:r>
              <a:rPr lang="ja-JP" altLang="en-US" dirty="0" smtClean="0">
                <a:solidFill>
                  <a:srgbClr val="FF0000"/>
                </a:solidFill>
              </a:rPr>
              <a:t>反復</a:t>
            </a:r>
            <a:r>
              <a:rPr lang="ja-JP" altLang="en-US" dirty="0" smtClean="0"/>
              <a:t>がローカル領域に限定される。</a:t>
            </a:r>
            <a:endParaRPr lang="en-US" altLang="ja-JP" dirty="0" smtClean="0"/>
          </a:p>
          <a:p>
            <a:endParaRPr lang="ja-JP" altLang="en-US" dirty="0" smtClean="0"/>
          </a:p>
          <a:p>
            <a:r>
              <a:rPr lang="ja-JP" altLang="en-US" smtClean="0"/>
              <a:t>アルゴリズムは二重</a:t>
            </a:r>
            <a:r>
              <a:rPr lang="ja-JP" altLang="en-US" dirty="0" smtClean="0"/>
              <a:t>のループ構造になる。</a:t>
            </a:r>
            <a:endParaRPr lang="en-US" altLang="ja-JP" dirty="0" smtClean="0"/>
          </a:p>
        </p:txBody>
      </p:sp>
      <p:sp>
        <p:nvSpPr>
          <p:cNvPr id="4" name="日付プレースホルダー 3"/>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5" name="フッター プレースホルダー 4"/>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6" name="スライド番号プレースホルダー 5"/>
          <p:cNvSpPr>
            <a:spLocks noGrp="1"/>
          </p:cNvSpPr>
          <p:nvPr>
            <p:ph type="sldNum" sz="quarter" idx="12"/>
          </p:nvPr>
        </p:nvSpPr>
        <p:spPr/>
        <p:txBody>
          <a:bodyPr/>
          <a:lstStyle/>
          <a:p>
            <a:fld id="{0CFEC368-1D7A-4F81-ABF6-AE0E36BAF64C}" type="slidenum">
              <a:rPr lang="en-US" smtClean="0"/>
              <a:pPr/>
              <a:t>22</a:t>
            </a:fld>
            <a:endParaRPr lang="en-US"/>
          </a:p>
        </p:txBody>
      </p:sp>
      <p:pic>
        <p:nvPicPr>
          <p:cNvPr id="9" name="図 8" descr="partitioned_iterative_flowchart_nonlinear.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6900" y="1034158"/>
            <a:ext cx="4279900" cy="5823843"/>
          </a:xfrm>
          <a:prstGeom prst="rect">
            <a:avLst/>
          </a:prstGeom>
        </p:spPr>
      </p:pic>
      <p:sp>
        <p:nvSpPr>
          <p:cNvPr id="11" name="角丸四角形吹き出し 10"/>
          <p:cNvSpPr/>
          <p:nvPr/>
        </p:nvSpPr>
        <p:spPr>
          <a:xfrm>
            <a:off x="7831400" y="2151564"/>
            <a:ext cx="918900" cy="440870"/>
          </a:xfrm>
          <a:prstGeom prst="wedgeRoundRectCallout">
            <a:avLst>
              <a:gd name="adj1" fmla="val -75322"/>
              <a:gd name="adj2" fmla="val 40736"/>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dirty="0" smtClean="0">
                <a:latin typeface="Palatino"/>
                <a:ea typeface="ヒラギノ角ゴ Pro W3"/>
              </a:rPr>
              <a:t>非線形</a:t>
            </a:r>
            <a:endParaRPr kumimoji="1" lang="ja-JP" altLang="en-US" dirty="0">
              <a:latin typeface="Palatino"/>
              <a:ea typeface="ヒラギノ角ゴ Pro W3"/>
            </a:endParaRPr>
          </a:p>
        </p:txBody>
      </p:sp>
      <p:sp>
        <p:nvSpPr>
          <p:cNvPr id="12" name="角丸四角形吹き出し 11"/>
          <p:cNvSpPr/>
          <p:nvPr/>
        </p:nvSpPr>
        <p:spPr>
          <a:xfrm>
            <a:off x="7831400" y="3840664"/>
            <a:ext cx="918900" cy="440870"/>
          </a:xfrm>
          <a:prstGeom prst="wedgeRoundRectCallout">
            <a:avLst>
              <a:gd name="adj1" fmla="val -75322"/>
              <a:gd name="adj2" fmla="val 40736"/>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dirty="0" smtClean="0">
                <a:latin typeface="Palatino"/>
                <a:ea typeface="ヒラギノ角ゴ Pro W3"/>
              </a:rPr>
              <a:t>線形</a:t>
            </a:r>
            <a:endParaRPr kumimoji="1" lang="ja-JP" altLang="en-US" dirty="0">
              <a:latin typeface="Palatino"/>
              <a:ea typeface="ヒラギノ角ゴ Pro W3"/>
            </a:endParaRPr>
          </a:p>
        </p:txBody>
      </p:sp>
    </p:spTree>
    <p:extLst>
      <p:ext uri="{BB962C8B-B14F-4D97-AF65-F5344CB8AC3E}">
        <p14:creationId xmlns:p14="http://schemas.microsoft.com/office/powerpoint/2010/main" val="1045977532"/>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3" name="フッター プレースホルダー 2"/>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4" name="スライド番号プレースホルダー 3"/>
          <p:cNvSpPr>
            <a:spLocks noGrp="1"/>
          </p:cNvSpPr>
          <p:nvPr>
            <p:ph type="sldNum" sz="quarter" idx="12"/>
          </p:nvPr>
        </p:nvSpPr>
        <p:spPr/>
        <p:txBody>
          <a:bodyPr/>
          <a:lstStyle/>
          <a:p>
            <a:fld id="{0CFEC368-1D7A-4F81-ABF6-AE0E36BAF64C}" type="slidenum">
              <a:rPr lang="en-US" smtClean="0"/>
              <a:pPr/>
              <a:t>23</a:t>
            </a:fld>
            <a:endParaRPr lang="en-US"/>
          </a:p>
        </p:txBody>
      </p:sp>
    </p:spTree>
    <p:extLst>
      <p:ext uri="{BB962C8B-B14F-4D97-AF65-F5344CB8AC3E}">
        <p14:creationId xmlns:p14="http://schemas.microsoft.com/office/powerpoint/2010/main" val="1474443110"/>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normAutofit fontScale="90000"/>
          </a:bodyPr>
          <a:lstStyle/>
          <a:p>
            <a:r>
              <a:rPr lang="ja-JP" altLang="en-US" dirty="0" smtClean="0"/>
              <a:t>直接変位外挿法による応力拡大係数評価</a:t>
            </a:r>
            <a:endParaRPr kumimoji="1" lang="ja-JP" altLang="en-US" dirty="0"/>
          </a:p>
        </p:txBody>
      </p:sp>
      <p:sp>
        <p:nvSpPr>
          <p:cNvPr id="6" name="コンテンツ プレースホルダー 5"/>
          <p:cNvSpPr>
            <a:spLocks noGrp="1"/>
          </p:cNvSpPr>
          <p:nvPr>
            <p:ph idx="1"/>
          </p:nvPr>
        </p:nvSpPr>
        <p:spPr>
          <a:xfrm>
            <a:off x="4508500" y="1600200"/>
            <a:ext cx="4178300" cy="4876800"/>
          </a:xfrm>
        </p:spPr>
        <p:txBody>
          <a:bodyPr/>
          <a:lstStyle/>
          <a:p>
            <a:r>
              <a:rPr kumimoji="1" lang="ja-JP" altLang="en-US" dirty="0" smtClean="0"/>
              <a:t>き裂先端近傍の節点変位から応力拡大係数を求め、外挿してき裂先端の応力拡大係数を求める。</a:t>
            </a:r>
            <a:endParaRPr kumimoji="1" lang="ja-JP" altLang="en-US" dirty="0"/>
          </a:p>
        </p:txBody>
      </p:sp>
      <p:sp>
        <p:nvSpPr>
          <p:cNvPr id="2" name="日付プレースホルダー 1"/>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3" name="フッター プレースホルダー 2"/>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4" name="スライド番号プレースホルダー 3"/>
          <p:cNvSpPr>
            <a:spLocks noGrp="1"/>
          </p:cNvSpPr>
          <p:nvPr>
            <p:ph type="sldNum" sz="quarter" idx="12"/>
          </p:nvPr>
        </p:nvSpPr>
        <p:spPr/>
        <p:txBody>
          <a:bodyPr/>
          <a:lstStyle/>
          <a:p>
            <a:fld id="{0CFEC368-1D7A-4F81-ABF6-AE0E36BAF64C}" type="slidenum">
              <a:rPr lang="en-US" smtClean="0"/>
              <a:pPr/>
              <a:t>24</a:t>
            </a:fld>
            <a:endParaRPr lang="en-US"/>
          </a:p>
        </p:txBody>
      </p:sp>
      <p:pic>
        <p:nvPicPr>
          <p:cNvPr id="8" name="図 7" descr="direct_extrapolation_method.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199" y="2133600"/>
            <a:ext cx="3912973" cy="3810000"/>
          </a:xfrm>
          <a:prstGeom prst="rect">
            <a:avLst/>
          </a:prstGeom>
        </p:spPr>
      </p:pic>
      <p:graphicFrame>
        <p:nvGraphicFramePr>
          <p:cNvPr id="9" name="オブジェクト 8"/>
          <p:cNvGraphicFramePr>
            <a:graphicFrameLocks noChangeAspect="1"/>
          </p:cNvGraphicFramePr>
          <p:nvPr>
            <p:extLst>
              <p:ext uri="{D42A27DB-BD31-4B8C-83A1-F6EECF244321}">
                <p14:modId xmlns:p14="http://schemas.microsoft.com/office/powerpoint/2010/main" val="260852050"/>
              </p:ext>
            </p:extLst>
          </p:nvPr>
        </p:nvGraphicFramePr>
        <p:xfrm>
          <a:off x="4575175" y="3405988"/>
          <a:ext cx="4111625" cy="1268412"/>
        </p:xfrm>
        <a:graphic>
          <a:graphicData uri="http://schemas.openxmlformats.org/presentationml/2006/ole">
            <mc:AlternateContent xmlns:mc="http://schemas.openxmlformats.org/markup-compatibility/2006">
              <mc:Choice xmlns:v="urn:schemas-microsoft-com:vml" Requires="v">
                <p:oleObj spid="_x0000_s7315" name="数式" r:id="rId5" imgW="2184400" imgH="673100" progId="Equation.3">
                  <p:embed/>
                </p:oleObj>
              </mc:Choice>
              <mc:Fallback>
                <p:oleObj name="数式" r:id="rId5" imgW="2184400" imgH="673100" progId="Equation.3">
                  <p:embed/>
                  <p:pic>
                    <p:nvPicPr>
                      <p:cNvPr id="0" name=""/>
                      <p:cNvPicPr/>
                      <p:nvPr/>
                    </p:nvPicPr>
                    <p:blipFill>
                      <a:blip r:embed="rId6"/>
                      <a:stretch>
                        <a:fillRect/>
                      </a:stretch>
                    </p:blipFill>
                    <p:spPr>
                      <a:xfrm>
                        <a:off x="4575175" y="3405988"/>
                        <a:ext cx="4111625" cy="1268412"/>
                      </a:xfrm>
                      <a:prstGeom prst="rect">
                        <a:avLst/>
                      </a:prstGeom>
                    </p:spPr>
                  </p:pic>
                </p:oleObj>
              </mc:Fallback>
            </mc:AlternateContent>
          </a:graphicData>
        </a:graphic>
      </p:graphicFrame>
    </p:spTree>
    <p:extLst>
      <p:ext uri="{BB962C8B-B14F-4D97-AF65-F5344CB8AC3E}">
        <p14:creationId xmlns:p14="http://schemas.microsoft.com/office/powerpoint/2010/main" val="1934279588"/>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緩和係数を変化させたときの反復回数</a:t>
            </a:r>
            <a:endParaRPr kumimoji="1" lang="ja-JP" altLang="en-US" dirty="0"/>
          </a:p>
        </p:txBody>
      </p:sp>
      <p:sp>
        <p:nvSpPr>
          <p:cNvPr id="3" name="日付プレースホルダー 2"/>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4" name="フッター プレースホルダー 3"/>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5" name="スライド番号プレースホルダー 4"/>
          <p:cNvSpPr>
            <a:spLocks noGrp="1"/>
          </p:cNvSpPr>
          <p:nvPr>
            <p:ph type="sldNum" sz="quarter" idx="12"/>
          </p:nvPr>
        </p:nvSpPr>
        <p:spPr/>
        <p:txBody>
          <a:bodyPr/>
          <a:lstStyle/>
          <a:p>
            <a:fld id="{0CFEC368-1D7A-4F81-ABF6-AE0E36BAF64C}" type="slidenum">
              <a:rPr lang="en-US" smtClean="0"/>
              <a:pPr/>
              <a:t>25</a:t>
            </a:fld>
            <a:endParaRPr lang="en-US"/>
          </a:p>
        </p:txBody>
      </p:sp>
      <p:pic>
        <p:nvPicPr>
          <p:cNvPr id="7" name="図 6" descr="omega_iter_residual.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5673" y="2527300"/>
            <a:ext cx="5071127" cy="3594100"/>
          </a:xfrm>
          <a:prstGeom prst="rect">
            <a:avLst/>
          </a:prstGeom>
        </p:spPr>
      </p:pic>
      <p:pic>
        <p:nvPicPr>
          <p:cNvPr id="9" name="図 8" descr="two_cubes.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2019300"/>
            <a:ext cx="3162300" cy="4470400"/>
          </a:xfrm>
          <a:prstGeom prst="rect">
            <a:avLst/>
          </a:prstGeom>
        </p:spPr>
      </p:pic>
    </p:spTree>
    <p:extLst>
      <p:ext uri="{BB962C8B-B14F-4D97-AF65-F5344CB8AC3E}">
        <p14:creationId xmlns:p14="http://schemas.microsoft.com/office/powerpoint/2010/main" val="3794720975"/>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altLang="ja-JP" dirty="0" smtClean="0"/>
              <a:t>Aitken </a:t>
            </a:r>
            <a:r>
              <a:rPr lang="ja-JP" altLang="en-US" dirty="0" smtClean="0"/>
              <a:t>補外の初期緩和係数を変化させたときの反復回数</a:t>
            </a:r>
            <a:endParaRPr kumimoji="1" lang="ja-JP" altLang="en-US" dirty="0"/>
          </a:p>
        </p:txBody>
      </p:sp>
      <p:sp>
        <p:nvSpPr>
          <p:cNvPr id="3" name="日付プレースホルダー 2"/>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4" name="フッター プレースホルダー 3"/>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5" name="スライド番号プレースホルダー 4"/>
          <p:cNvSpPr>
            <a:spLocks noGrp="1"/>
          </p:cNvSpPr>
          <p:nvPr>
            <p:ph type="sldNum" sz="quarter" idx="12"/>
          </p:nvPr>
        </p:nvSpPr>
        <p:spPr/>
        <p:txBody>
          <a:bodyPr/>
          <a:lstStyle/>
          <a:p>
            <a:fld id="{0CFEC368-1D7A-4F81-ABF6-AE0E36BAF64C}" type="slidenum">
              <a:rPr lang="en-US" smtClean="0"/>
              <a:pPr/>
              <a:t>26</a:t>
            </a:fld>
            <a:endParaRPr lang="en-US"/>
          </a:p>
        </p:txBody>
      </p:sp>
      <p:pic>
        <p:nvPicPr>
          <p:cNvPr id="6" name="図 5" descr="two_cube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2019300"/>
            <a:ext cx="3162300" cy="4470400"/>
          </a:xfrm>
          <a:prstGeom prst="rect">
            <a:avLst/>
          </a:prstGeom>
        </p:spPr>
      </p:pic>
      <p:pic>
        <p:nvPicPr>
          <p:cNvPr id="8" name="図 7" descr="omega_zero_residual.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9500" y="2463799"/>
            <a:ext cx="5067300" cy="3591387"/>
          </a:xfrm>
          <a:prstGeom prst="rect">
            <a:avLst/>
          </a:prstGeom>
        </p:spPr>
      </p:pic>
    </p:spTree>
    <p:extLst>
      <p:ext uri="{BB962C8B-B14F-4D97-AF65-F5344CB8AC3E}">
        <p14:creationId xmlns:p14="http://schemas.microsoft.com/office/powerpoint/2010/main" val="2707411766"/>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問題自由度を変化させたときの反復回数</a:t>
            </a:r>
            <a:endParaRPr kumimoji="1" lang="ja-JP" altLang="en-US" dirty="0"/>
          </a:p>
        </p:txBody>
      </p:sp>
      <p:sp>
        <p:nvSpPr>
          <p:cNvPr id="3" name="日付プレースホルダー 2"/>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4" name="フッター プレースホルダー 3"/>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5" name="スライド番号プレースホルダー 4"/>
          <p:cNvSpPr>
            <a:spLocks noGrp="1"/>
          </p:cNvSpPr>
          <p:nvPr>
            <p:ph type="sldNum" sz="quarter" idx="12"/>
          </p:nvPr>
        </p:nvSpPr>
        <p:spPr/>
        <p:txBody>
          <a:bodyPr/>
          <a:lstStyle/>
          <a:p>
            <a:fld id="{0CFEC368-1D7A-4F81-ABF6-AE0E36BAF64C}" type="slidenum">
              <a:rPr lang="en-US" smtClean="0"/>
              <a:pPr/>
              <a:t>27</a:t>
            </a:fld>
            <a:endParaRPr lang="en-US"/>
          </a:p>
        </p:txBody>
      </p:sp>
      <p:pic>
        <p:nvPicPr>
          <p:cNvPr id="6" name="図 5" descr="two_cube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2019300"/>
            <a:ext cx="3162300" cy="4470400"/>
          </a:xfrm>
          <a:prstGeom prst="rect">
            <a:avLst/>
          </a:prstGeom>
        </p:spPr>
      </p:pic>
      <p:graphicFrame>
        <p:nvGraphicFramePr>
          <p:cNvPr id="7" name="表 6"/>
          <p:cNvGraphicFramePr>
            <a:graphicFrameLocks noGrp="1"/>
          </p:cNvGraphicFramePr>
          <p:nvPr>
            <p:extLst>
              <p:ext uri="{D42A27DB-BD31-4B8C-83A1-F6EECF244321}">
                <p14:modId xmlns:p14="http://schemas.microsoft.com/office/powerpoint/2010/main" val="1324080281"/>
              </p:ext>
            </p:extLst>
          </p:nvPr>
        </p:nvGraphicFramePr>
        <p:xfrm>
          <a:off x="3619500" y="2476500"/>
          <a:ext cx="5067300" cy="3708400"/>
        </p:xfrm>
        <a:graphic>
          <a:graphicData uri="http://schemas.openxmlformats.org/drawingml/2006/table">
            <a:tbl>
              <a:tblPr firstRow="1" bandRow="1">
                <a:tableStyleId>{5C22544A-7EE6-4342-B048-85BDC9FD1C3A}</a:tableStyleId>
              </a:tblPr>
              <a:tblGrid>
                <a:gridCol w="2133600"/>
                <a:gridCol w="1473200"/>
                <a:gridCol w="1460500"/>
              </a:tblGrid>
              <a:tr h="370840">
                <a:tc>
                  <a:txBody>
                    <a:bodyPr/>
                    <a:lstStyle/>
                    <a:p>
                      <a:pPr algn="ctr"/>
                      <a:r>
                        <a:rPr kumimoji="1" lang="ja-JP" altLang="en-US" dirty="0" smtClean="0">
                          <a:latin typeface="Palatino"/>
                          <a:ea typeface="ヒラギノ角ゴ Pro W3"/>
                        </a:rPr>
                        <a:t>一辺の要素分割数</a:t>
                      </a:r>
                      <a:endParaRPr kumimoji="1" lang="ja-JP" altLang="en-US" dirty="0">
                        <a:latin typeface="Palatino"/>
                        <a:ea typeface="ヒラギノ角ゴ Pro W3"/>
                      </a:endParaRPr>
                    </a:p>
                  </a:txBody>
                  <a:tcPr/>
                </a:tc>
                <a:tc>
                  <a:txBody>
                    <a:bodyPr/>
                    <a:lstStyle/>
                    <a:p>
                      <a:pPr algn="ctr"/>
                      <a:r>
                        <a:rPr kumimoji="1" lang="ja-JP" altLang="en-US" dirty="0" smtClean="0">
                          <a:latin typeface="Palatino"/>
                          <a:ea typeface="ヒラギノ角ゴ Pro W3"/>
                        </a:rPr>
                        <a:t>総自由度</a:t>
                      </a:r>
                      <a:endParaRPr kumimoji="1" lang="ja-JP" altLang="en-US" dirty="0">
                        <a:latin typeface="Palatino"/>
                        <a:ea typeface="ヒラギノ角ゴ Pro W3"/>
                      </a:endParaRPr>
                    </a:p>
                  </a:txBody>
                  <a:tcPr/>
                </a:tc>
                <a:tc>
                  <a:txBody>
                    <a:bodyPr/>
                    <a:lstStyle/>
                    <a:p>
                      <a:pPr algn="ctr"/>
                      <a:r>
                        <a:rPr kumimoji="1" lang="ja-JP" altLang="en-US" dirty="0" smtClean="0">
                          <a:latin typeface="Palatino"/>
                          <a:ea typeface="ヒラギノ角ゴ Pro W3"/>
                        </a:rPr>
                        <a:t>反復回数</a:t>
                      </a:r>
                      <a:endParaRPr kumimoji="1" lang="ja-JP" altLang="en-US" dirty="0">
                        <a:latin typeface="Palatino"/>
                        <a:ea typeface="ヒラギノ角ゴ Pro W3"/>
                      </a:endParaRPr>
                    </a:p>
                  </a:txBody>
                  <a:tcPr/>
                </a:tc>
              </a:tr>
              <a:tr h="370840">
                <a:tc>
                  <a:txBody>
                    <a:bodyPr/>
                    <a:lstStyle/>
                    <a:p>
                      <a:pPr algn="ctr"/>
                      <a:r>
                        <a:rPr kumimoji="1" lang="en-US" altLang="ja-JP" dirty="0" smtClean="0">
                          <a:latin typeface="Palatino"/>
                          <a:ea typeface="ヒラギノ角ゴ Pro W3"/>
                        </a:rPr>
                        <a:t>1</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36</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6</a:t>
                      </a:r>
                      <a:endParaRPr kumimoji="1" lang="ja-JP" altLang="en-US" dirty="0">
                        <a:latin typeface="Palatino"/>
                        <a:ea typeface="ヒラギノ角ゴ Pro W3"/>
                      </a:endParaRPr>
                    </a:p>
                  </a:txBody>
                  <a:tcPr/>
                </a:tc>
              </a:tr>
              <a:tr h="370840">
                <a:tc>
                  <a:txBody>
                    <a:bodyPr/>
                    <a:lstStyle/>
                    <a:p>
                      <a:pPr algn="ctr"/>
                      <a:r>
                        <a:rPr kumimoji="1" lang="en-US" altLang="ja-JP" dirty="0" smtClean="0">
                          <a:latin typeface="Palatino"/>
                          <a:ea typeface="ヒラギノ角ゴ Pro W3"/>
                        </a:rPr>
                        <a:t>2</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100</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10</a:t>
                      </a:r>
                      <a:endParaRPr kumimoji="1" lang="ja-JP" altLang="en-US" dirty="0">
                        <a:latin typeface="Palatino"/>
                        <a:ea typeface="ヒラギノ角ゴ Pro W3"/>
                      </a:endParaRPr>
                    </a:p>
                  </a:txBody>
                  <a:tcPr/>
                </a:tc>
              </a:tr>
              <a:tr h="370840">
                <a:tc>
                  <a:txBody>
                    <a:bodyPr/>
                    <a:lstStyle/>
                    <a:p>
                      <a:pPr algn="ctr"/>
                      <a:r>
                        <a:rPr kumimoji="1" lang="en-US" altLang="ja-JP" dirty="0" smtClean="0">
                          <a:latin typeface="Palatino"/>
                          <a:ea typeface="ヒラギノ角ゴ Pro W3"/>
                        </a:rPr>
                        <a:t>4</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324</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10</a:t>
                      </a:r>
                      <a:endParaRPr kumimoji="1" lang="ja-JP" altLang="en-US" dirty="0">
                        <a:latin typeface="Palatino"/>
                        <a:ea typeface="ヒラギノ角ゴ Pro W3"/>
                      </a:endParaRPr>
                    </a:p>
                  </a:txBody>
                  <a:tcPr/>
                </a:tc>
              </a:tr>
              <a:tr h="370840">
                <a:tc>
                  <a:txBody>
                    <a:bodyPr/>
                    <a:lstStyle/>
                    <a:p>
                      <a:pPr algn="ctr"/>
                      <a:r>
                        <a:rPr kumimoji="1" lang="en-US" altLang="ja-JP" dirty="0" smtClean="0">
                          <a:latin typeface="Palatino"/>
                          <a:ea typeface="ヒラギノ角ゴ Pro W3"/>
                        </a:rPr>
                        <a:t>8</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1,156</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10</a:t>
                      </a:r>
                      <a:endParaRPr kumimoji="1" lang="ja-JP" altLang="en-US" dirty="0">
                        <a:latin typeface="Palatino"/>
                        <a:ea typeface="ヒラギノ角ゴ Pro W3"/>
                      </a:endParaRPr>
                    </a:p>
                  </a:txBody>
                  <a:tcPr/>
                </a:tc>
              </a:tr>
              <a:tr h="370840">
                <a:tc>
                  <a:txBody>
                    <a:bodyPr/>
                    <a:lstStyle/>
                    <a:p>
                      <a:pPr algn="ctr"/>
                      <a:r>
                        <a:rPr kumimoji="1" lang="en-US" altLang="ja-JP" dirty="0" smtClean="0">
                          <a:latin typeface="Palatino"/>
                          <a:ea typeface="ヒラギノ角ゴ Pro W3"/>
                        </a:rPr>
                        <a:t>10</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1,764</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10</a:t>
                      </a:r>
                      <a:endParaRPr kumimoji="1" lang="ja-JP" altLang="en-US" dirty="0">
                        <a:latin typeface="Palatino"/>
                        <a:ea typeface="ヒラギノ角ゴ Pro W3"/>
                      </a:endParaRPr>
                    </a:p>
                  </a:txBody>
                  <a:tcPr/>
                </a:tc>
              </a:tr>
              <a:tr h="370840">
                <a:tc>
                  <a:txBody>
                    <a:bodyPr/>
                    <a:lstStyle/>
                    <a:p>
                      <a:pPr algn="ctr"/>
                      <a:r>
                        <a:rPr kumimoji="1" lang="en-US" altLang="ja-JP" dirty="0" smtClean="0">
                          <a:latin typeface="Palatino"/>
                          <a:ea typeface="ヒラギノ角ゴ Pro W3"/>
                        </a:rPr>
                        <a:t>20</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6,724</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8</a:t>
                      </a:r>
                      <a:endParaRPr kumimoji="1" lang="ja-JP" altLang="en-US" dirty="0">
                        <a:latin typeface="Palatino"/>
                        <a:ea typeface="ヒラギノ角ゴ Pro W3"/>
                      </a:endParaRPr>
                    </a:p>
                  </a:txBody>
                  <a:tcPr/>
                </a:tc>
              </a:tr>
              <a:tr h="370840">
                <a:tc>
                  <a:txBody>
                    <a:bodyPr/>
                    <a:lstStyle/>
                    <a:p>
                      <a:pPr algn="ctr"/>
                      <a:r>
                        <a:rPr kumimoji="1" lang="en-US" altLang="ja-JP" dirty="0" smtClean="0">
                          <a:latin typeface="Palatino"/>
                          <a:ea typeface="ヒラギノ角ゴ Pro W3"/>
                        </a:rPr>
                        <a:t>40</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26,244</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10</a:t>
                      </a:r>
                      <a:endParaRPr kumimoji="1" lang="ja-JP" altLang="en-US" dirty="0">
                        <a:latin typeface="Palatino"/>
                        <a:ea typeface="ヒラギノ角ゴ Pro W3"/>
                      </a:endParaRPr>
                    </a:p>
                  </a:txBody>
                  <a:tcPr/>
                </a:tc>
              </a:tr>
              <a:tr h="370840">
                <a:tc>
                  <a:txBody>
                    <a:bodyPr/>
                    <a:lstStyle/>
                    <a:p>
                      <a:pPr algn="ctr"/>
                      <a:r>
                        <a:rPr kumimoji="1" lang="en-US" altLang="ja-JP" dirty="0" smtClean="0">
                          <a:latin typeface="Palatino"/>
                          <a:ea typeface="ヒラギノ角ゴ Pro W3"/>
                        </a:rPr>
                        <a:t>80</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103,684</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10</a:t>
                      </a:r>
                      <a:endParaRPr kumimoji="1" lang="ja-JP" altLang="en-US" dirty="0">
                        <a:latin typeface="Palatino"/>
                        <a:ea typeface="ヒラギノ角ゴ Pro W3"/>
                      </a:endParaRPr>
                    </a:p>
                  </a:txBody>
                  <a:tcPr/>
                </a:tc>
              </a:tr>
              <a:tr h="370840">
                <a:tc>
                  <a:txBody>
                    <a:bodyPr/>
                    <a:lstStyle/>
                    <a:p>
                      <a:pPr algn="ctr"/>
                      <a:r>
                        <a:rPr kumimoji="1" lang="en-US" altLang="ja-JP" dirty="0" smtClean="0">
                          <a:latin typeface="Palatino"/>
                          <a:ea typeface="ヒラギノ角ゴ Pro W3"/>
                        </a:rPr>
                        <a:t>100</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161,604</a:t>
                      </a:r>
                      <a:endParaRPr kumimoji="1" lang="ja-JP" altLang="en-US" dirty="0">
                        <a:latin typeface="Palatino"/>
                        <a:ea typeface="ヒラギノ角ゴ Pro W3"/>
                      </a:endParaRPr>
                    </a:p>
                  </a:txBody>
                  <a:tcPr/>
                </a:tc>
                <a:tc>
                  <a:txBody>
                    <a:bodyPr/>
                    <a:lstStyle/>
                    <a:p>
                      <a:pPr algn="ctr"/>
                      <a:r>
                        <a:rPr kumimoji="1" lang="en-US" altLang="ja-JP" dirty="0" smtClean="0">
                          <a:latin typeface="Palatino"/>
                          <a:ea typeface="ヒラギノ角ゴ Pro W3"/>
                        </a:rPr>
                        <a:t>10</a:t>
                      </a:r>
                      <a:endParaRPr kumimoji="1" lang="ja-JP" altLang="en-US" dirty="0">
                        <a:latin typeface="Palatino"/>
                        <a:ea typeface="ヒラギノ角ゴ Pro W3"/>
                      </a:endParaRPr>
                    </a:p>
                  </a:txBody>
                  <a:tcPr/>
                </a:tc>
              </a:tr>
            </a:tbl>
          </a:graphicData>
        </a:graphic>
      </p:graphicFrame>
    </p:spTree>
    <p:extLst>
      <p:ext uri="{BB962C8B-B14F-4D97-AF65-F5344CB8AC3E}">
        <p14:creationId xmlns:p14="http://schemas.microsoft.com/office/powerpoint/2010/main" val="157977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ズーミング法による解析例</a:t>
            </a:r>
            <a:endParaRPr kumimoji="1" lang="ja-JP" altLang="en-US" dirty="0"/>
          </a:p>
        </p:txBody>
      </p:sp>
      <p:sp>
        <p:nvSpPr>
          <p:cNvPr id="3" name="日付プレースホルダー 2"/>
          <p:cNvSpPr>
            <a:spLocks noGrp="1"/>
          </p:cNvSpPr>
          <p:nvPr>
            <p:ph type="dt" sz="half" idx="10"/>
          </p:nvPr>
        </p:nvSpPr>
        <p:spPr/>
        <p:txBody>
          <a:bodyPr/>
          <a:lstStyle/>
          <a:p>
            <a:r>
              <a:rPr lang="en-US" altLang="ja-JP" smtClean="0"/>
              <a:t>2012 </a:t>
            </a:r>
            <a:r>
              <a:rPr lang="ja-JP" altLang="en-US" smtClean="0"/>
              <a:t>年 </a:t>
            </a:r>
            <a:r>
              <a:rPr lang="en-US" altLang="ja-JP" smtClean="0"/>
              <a:t>2 </a:t>
            </a:r>
            <a:r>
              <a:rPr lang="ja-JP" altLang="en-US" smtClean="0"/>
              <a:t>月 </a:t>
            </a:r>
            <a:r>
              <a:rPr lang="en-US" altLang="ja-JP" smtClean="0"/>
              <a:t>8 </a:t>
            </a:r>
            <a:r>
              <a:rPr lang="ja-JP" altLang="en-US" smtClean="0"/>
              <a:t>日 </a:t>
            </a:r>
            <a:r>
              <a:rPr lang="en-US" altLang="ja-JP" smtClean="0"/>
              <a:t>(</a:t>
            </a:r>
            <a:r>
              <a:rPr lang="ja-JP" altLang="en-US" smtClean="0"/>
              <a:t>水</a:t>
            </a:r>
            <a:r>
              <a:rPr lang="en-US" altLang="ja-JP" smtClean="0"/>
              <a:t>)</a:t>
            </a:r>
            <a:endParaRPr lang="en-US"/>
          </a:p>
        </p:txBody>
      </p:sp>
      <p:sp>
        <p:nvSpPr>
          <p:cNvPr id="4" name="フッター プレースホルダー 3"/>
          <p:cNvSpPr>
            <a:spLocks noGrp="1"/>
          </p:cNvSpPr>
          <p:nvPr>
            <p:ph type="ftr" sz="quarter" idx="11"/>
          </p:nvPr>
        </p:nvSpPr>
        <p:spPr/>
        <p:txBody>
          <a:bodyPr/>
          <a:lstStyle/>
          <a:p>
            <a:pPr algn="r"/>
            <a:r>
              <a:rPr lang="ja-JP" altLang="en-US" smtClean="0"/>
              <a:t>修士課程最終発表 </a:t>
            </a:r>
            <a:r>
              <a:rPr lang="en-US" altLang="ja-JP" smtClean="0"/>
              <a:t>&amp; </a:t>
            </a:r>
            <a:r>
              <a:rPr lang="ja-JP" altLang="en-US" smtClean="0"/>
              <a:t>博士後期課程口述二次試験</a:t>
            </a:r>
            <a:endParaRPr lang="en-US" dirty="0"/>
          </a:p>
        </p:txBody>
      </p:sp>
      <p:sp>
        <p:nvSpPr>
          <p:cNvPr id="5" name="スライド番号プレースホルダー 4"/>
          <p:cNvSpPr>
            <a:spLocks noGrp="1"/>
          </p:cNvSpPr>
          <p:nvPr>
            <p:ph type="sldNum" sz="quarter" idx="12"/>
          </p:nvPr>
        </p:nvSpPr>
        <p:spPr/>
        <p:txBody>
          <a:bodyPr/>
          <a:lstStyle/>
          <a:p>
            <a:fld id="{0CFEC368-1D7A-4F81-ABF6-AE0E36BAF64C}" type="slidenum">
              <a:rPr lang="en-US" smtClean="0"/>
              <a:pPr/>
              <a:t>28</a:t>
            </a:fld>
            <a:endParaRPr lang="en-US"/>
          </a:p>
        </p:txBody>
      </p:sp>
      <p:pic>
        <p:nvPicPr>
          <p:cNvPr id="6" name="図 5" descr="result_zoomi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4000"/>
            <a:ext cx="4838700" cy="4838700"/>
          </a:xfrm>
          <a:prstGeom prst="rect">
            <a:avLst/>
          </a:prstGeom>
        </p:spPr>
      </p:pic>
      <p:pic>
        <p:nvPicPr>
          <p:cNvPr id="8" name="図 7" descr="ect_2d_sif.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5699" y="1524000"/>
            <a:ext cx="3636027" cy="2540000"/>
          </a:xfrm>
          <a:prstGeom prst="rect">
            <a:avLst/>
          </a:prstGeom>
        </p:spPr>
      </p:pic>
      <p:pic>
        <p:nvPicPr>
          <p:cNvPr id="9" name="図 8" descr="ect_2d_cycles.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38700" y="4064000"/>
            <a:ext cx="3848100" cy="2637665"/>
          </a:xfrm>
          <a:prstGeom prst="rect">
            <a:avLst/>
          </a:prstGeom>
        </p:spPr>
      </p:pic>
    </p:spTree>
    <p:extLst>
      <p:ext uri="{BB962C8B-B14F-4D97-AF65-F5344CB8AC3E}">
        <p14:creationId xmlns:p14="http://schemas.microsoft.com/office/powerpoint/2010/main" val="15184413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クラリティ">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クラリティ.thmx</Template>
  <TotalTime>2414</TotalTime>
  <Words>1784</Words>
  <Application>Microsoft Macintosh PowerPoint</Application>
  <PresentationFormat>画面に合わせる (4:3)</PresentationFormat>
  <Paragraphs>317</Paragraphs>
  <Slides>28</Slides>
  <Notes>6</Notes>
  <HiddenSlides>0</HiddenSlides>
  <MMClips>0</MMClips>
  <ScaleCrop>false</ScaleCrop>
  <HeadingPairs>
    <vt:vector size="6" baseType="variant">
      <vt:variant>
        <vt:lpstr>テーマ</vt:lpstr>
      </vt:variant>
      <vt:variant>
        <vt:i4>1</vt:i4>
      </vt:variant>
      <vt:variant>
        <vt:lpstr>埋め込まれた OLE サーバー</vt:lpstr>
      </vt:variant>
      <vt:variant>
        <vt:i4>1</vt:i4>
      </vt:variant>
      <vt:variant>
        <vt:lpstr>スライド タイトル</vt:lpstr>
      </vt:variant>
      <vt:variant>
        <vt:i4>28</vt:i4>
      </vt:variant>
    </vt:vector>
  </HeadingPairs>
  <TitlesOfParts>
    <vt:vector size="30" baseType="lpstr">
      <vt:lpstr>クラリティ</vt:lpstr>
      <vt:lpstr>数式</vt:lpstr>
      <vt:lpstr>分離反復連成解法による 大規模破壊力学シミュレーション</vt:lpstr>
      <vt:lpstr>アウトライン</vt:lpstr>
      <vt:lpstr>複雑形状構造物に発現する複雑な現象</vt:lpstr>
      <vt:lpstr>局所的に発現する現象</vt:lpstr>
      <vt:lpstr>分離反復連成解法の概要</vt:lpstr>
      <vt:lpstr>大規模破壊力学解析の既存手法</vt:lpstr>
      <vt:lpstr>モデルの空間的分割方法の違い</vt:lpstr>
      <vt:lpstr>マルチフィジックス連成解析の視点での大規模破壊力学解析手法の分類</vt:lpstr>
      <vt:lpstr>大規模破壊力学解析手法の立ち位置</vt:lpstr>
      <vt:lpstr>本手法と既存手法の違い</vt:lpstr>
      <vt:lpstr>Aitken 補外による動的緩和付きブロック Gauss–Seidel 法のアルゴリズム</vt:lpstr>
      <vt:lpstr>196 万自由度の疲労き裂進展解析</vt:lpstr>
      <vt:lpstr>最初のき裂進展ステップの計算結果</vt:lpstr>
      <vt:lpstr>分離反復連成解法の反復特性</vt:lpstr>
      <vt:lpstr>応力拡大係数による精度比較 (1/2)</vt:lpstr>
      <vt:lpstr>応力拡大係数による精度比較 (2/2)</vt:lpstr>
      <vt:lpstr>疲労サイクル数による精度比較</vt:lpstr>
      <vt:lpstr>計算時間の比較 (1/2)</vt:lpstr>
      <vt:lpstr>計算時間の比較 (2/2)</vt:lpstr>
      <vt:lpstr>結論</vt:lpstr>
      <vt:lpstr>博士後期課程での研究構想 (1/2): き裂進展解析の高度化</vt:lpstr>
      <vt:lpstr>博士後期課程での研究構想 (2/2): 非線形問題への応用</vt:lpstr>
      <vt:lpstr>PowerPoint プレゼンテーション</vt:lpstr>
      <vt:lpstr>直接変位外挿法による応力拡大係数評価</vt:lpstr>
      <vt:lpstr>緩和係数を変化させたときの反復回数</vt:lpstr>
      <vt:lpstr>Aitken 補外の初期緩和係数を変化させたときの反復回数</vt:lpstr>
      <vt:lpstr>問題自由度を変化させたときの反復回数</vt:lpstr>
      <vt:lpstr>ズーミング法による解析例</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構造・構造連成解析</dc:title>
  <dc:creator>遊佐 泰紀</dc:creator>
  <cp:lastModifiedBy>遊佐 泰紀</cp:lastModifiedBy>
  <cp:revision>1343</cp:revision>
  <cp:lastPrinted>2012-02-05T02:16:59Z</cp:lastPrinted>
  <dcterms:created xsi:type="dcterms:W3CDTF">2011-10-10T04:04:01Z</dcterms:created>
  <dcterms:modified xsi:type="dcterms:W3CDTF">2012-02-08T06:48:22Z</dcterms:modified>
</cp:coreProperties>
</file>